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embeddedFontLst>
    <p:embeddedFont>
      <p:font typeface="Noto Sans KR"/>
      <p:bold r:id="rId36"/>
    </p:embeddedFont>
    <p:embeddedFont>
      <p:font typeface="Poppins"/>
      <p:regular r:id="rId37"/>
      <p:bold r:id="rId38"/>
      <p:italic r:id="rId39"/>
      <p:boldItalic r:id="rId40"/>
    </p:embeddedFont>
    <p:embeddedFont>
      <p:font typeface="Roboto Mono"/>
      <p:bold r:id="rId41"/>
      <p:boldItalic r:id="rId42"/>
    </p:embeddedFont>
    <p:embeddedFont>
      <p:font typeface="Noto Sans JP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08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0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boldItalic.fntdata"/><Relationship Id="rId20" Type="http://schemas.openxmlformats.org/officeDocument/2006/relationships/slide" Target="slides/slide15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7.xml"/><Relationship Id="rId44" Type="http://schemas.openxmlformats.org/officeDocument/2006/relationships/font" Target="fonts/NotoSansJP-bold.fntdata"/><Relationship Id="rId21" Type="http://schemas.openxmlformats.org/officeDocument/2006/relationships/slide" Target="slides/slide16.xml"/><Relationship Id="rId43" Type="http://schemas.openxmlformats.org/officeDocument/2006/relationships/font" Target="fonts/NotoSansJP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oppins-regular.fntdata"/><Relationship Id="rId14" Type="http://schemas.openxmlformats.org/officeDocument/2006/relationships/slide" Target="slides/slide9.xml"/><Relationship Id="rId36" Type="http://schemas.openxmlformats.org/officeDocument/2006/relationships/font" Target="fonts/NotoSansKR-bold.fntdata"/><Relationship Id="rId17" Type="http://schemas.openxmlformats.org/officeDocument/2006/relationships/slide" Target="slides/slide12.xml"/><Relationship Id="rId39" Type="http://schemas.openxmlformats.org/officeDocument/2006/relationships/font" Target="fonts/Poppins-italic.fntdata"/><Relationship Id="rId16" Type="http://schemas.openxmlformats.org/officeDocument/2006/relationships/slide" Target="slides/slide11.xml"/><Relationship Id="rId38" Type="http://schemas.openxmlformats.org/officeDocument/2006/relationships/font" Target="fonts/Poppi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9ab27c850_11_2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9ab27c850_11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9ab27c850_11_5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9ab27c850_11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9ab27c850_11_8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9ab27c850_11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9ab27c850_11_1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7" name="Google Shape;267;g3e9ab27c850_11_10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9ab27c850_11_14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9ab27c850_11_1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9ab27c850_11_17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e9ab27c850_11_1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e9ab27c850_11_20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e9ab27c850_11_2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e9ab27c850_11_2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e9ab27c850_11_2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9ab27c850_11_23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e9ab27c850_11_2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e988d1cc50_3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e988d1cc50_3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9f8373e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e9f8373ee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e988d1cc50_3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e988d1cc50_3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e9ab27c850_11_28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e9ab27c850_11_2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e9ab27c850_11_29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e9ab27c850_11_2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9ab27c850_11_29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e9ab27c850_11_2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e9ab27c850_11_29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e9ab27c850_11_2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e988d1cc50_3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e988d1cc50_3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e9ab27c850_11_30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e9ab27c850_11_3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e9ab27c850_11_32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e9ab27c850_11_3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e9ab27c850_11_33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e9ab27c850_11_3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e9ab27c850_11_35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e9ab27c850_11_3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e9a4c47a5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3e9a4c47a52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9ab27c850_35_0)">
  <p:cSld name="Generated (g3e9ab27c850_35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8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9.png"/><Relationship Id="rId13" Type="http://schemas.openxmlformats.org/officeDocument/2006/relationships/image" Target="../media/image19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png"/><Relationship Id="rId10" Type="http://schemas.openxmlformats.org/officeDocument/2006/relationships/image" Target="../media/image22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9" Type="http://schemas.openxmlformats.org/officeDocument/2006/relationships/image" Target="../media/image23.png"/><Relationship Id="rId5" Type="http://schemas.openxmlformats.org/officeDocument/2006/relationships/image" Target="../media/image64.png"/><Relationship Id="rId6" Type="http://schemas.openxmlformats.org/officeDocument/2006/relationships/image" Target="../media/image16.png"/><Relationship Id="rId7" Type="http://schemas.openxmlformats.org/officeDocument/2006/relationships/image" Target="../media/image24.png"/><Relationship Id="rId8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9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1.png"/><Relationship Id="rId4" Type="http://schemas.openxmlformats.org/officeDocument/2006/relationships/image" Target="../media/image36.png"/><Relationship Id="rId5" Type="http://schemas.openxmlformats.org/officeDocument/2006/relationships/image" Target="../media/image43.png"/><Relationship Id="rId6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8.png"/><Relationship Id="rId4" Type="http://schemas.openxmlformats.org/officeDocument/2006/relationships/image" Target="../media/image1.png"/><Relationship Id="rId5" Type="http://schemas.openxmlformats.org/officeDocument/2006/relationships/image" Target="../media/image57.png"/><Relationship Id="rId6" Type="http://schemas.openxmlformats.org/officeDocument/2006/relationships/image" Target="../media/image42.png"/><Relationship Id="rId7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8.png"/><Relationship Id="rId4" Type="http://schemas.openxmlformats.org/officeDocument/2006/relationships/image" Target="../media/image1.png"/><Relationship Id="rId5" Type="http://schemas.openxmlformats.org/officeDocument/2006/relationships/image" Target="../media/image39.png"/><Relationship Id="rId6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5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49.png"/><Relationship Id="rId7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53.png"/><Relationship Id="rId5" Type="http://schemas.openxmlformats.org/officeDocument/2006/relationships/image" Target="../media/image39.png"/><Relationship Id="rId6" Type="http://schemas.openxmlformats.org/officeDocument/2006/relationships/image" Target="../media/image6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53.png"/><Relationship Id="rId5" Type="http://schemas.openxmlformats.org/officeDocument/2006/relationships/image" Target="../media/image47.png"/><Relationship Id="rId6" Type="http://schemas.openxmlformats.org/officeDocument/2006/relationships/image" Target="../media/image52.png"/><Relationship Id="rId7" Type="http://schemas.openxmlformats.org/officeDocument/2006/relationships/image" Target="../media/image3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8.png"/><Relationship Id="rId4" Type="http://schemas.openxmlformats.org/officeDocument/2006/relationships/image" Target="../media/image51.png"/><Relationship Id="rId5" Type="http://schemas.openxmlformats.org/officeDocument/2006/relationships/image" Target="../media/image5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8.png"/><Relationship Id="rId4" Type="http://schemas.openxmlformats.org/officeDocument/2006/relationships/image" Target="../media/image51.png"/><Relationship Id="rId5" Type="http://schemas.openxmlformats.org/officeDocument/2006/relationships/image" Target="../media/image5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8.png"/><Relationship Id="rId4" Type="http://schemas.openxmlformats.org/officeDocument/2006/relationships/image" Target="../media/image51.png"/><Relationship Id="rId5" Type="http://schemas.openxmlformats.org/officeDocument/2006/relationships/image" Target="../media/image5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8.png"/><Relationship Id="rId4" Type="http://schemas.openxmlformats.org/officeDocument/2006/relationships/image" Target="../media/image51.png"/><Relationship Id="rId5" Type="http://schemas.openxmlformats.org/officeDocument/2006/relationships/image" Target="../media/image65.png"/><Relationship Id="rId6" Type="http://schemas.openxmlformats.org/officeDocument/2006/relationships/image" Target="../media/image6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1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3.png"/><Relationship Id="rId8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2300" y="4649092"/>
            <a:ext cx="2527399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/>
        </p:nvSpPr>
        <p:spPr>
          <a:xfrm>
            <a:off x="2363539" y="1713607"/>
            <a:ext cx="7464921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927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FOREST LIBRARY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1810933" y="2780407"/>
            <a:ext cx="8570133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도서 대여 및 중고 거래 플랫폼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3157686" y="3913882"/>
            <a:ext cx="5876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Spring Boot &amp; </a:t>
            </a:r>
            <a:r>
              <a:rPr lang="en-US" sz="16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JSP</a:t>
            </a:r>
            <a:r>
              <a:rPr b="0" i="0" lang="en-US" sz="16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 기반 웹 서비스 아키텍처 및 구현 결과</a:t>
            </a:r>
            <a:endParaRPr b="0" i="0" sz="1650" u="none" cap="none" strike="noStrike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A조 박준하, 신민수</a:t>
            </a:r>
            <a:endParaRPr sz="1650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image.png" id="90" name="Google Shape;9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3539" y="1770757"/>
            <a:ext cx="592782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295275" y="393192"/>
            <a:ext cx="116016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01. 기획 및 요구사항 정의</a:t>
            </a:r>
            <a:endParaRPr b="1" sz="4800">
              <a:solidFill>
                <a:srgbClr val="2D5A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5524500" y="1381125"/>
            <a:ext cx="1143000" cy="57300"/>
          </a:xfrm>
          <a:prstGeom prst="roundRect">
            <a:avLst>
              <a:gd fmla="val 50000" name="adj"/>
            </a:avLst>
          </a:prstGeom>
          <a:solidFill>
            <a:srgbClr val="84CC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1448450" y="2286000"/>
            <a:ext cx="40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1333500" y="1809750"/>
            <a:ext cx="95250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D5A2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r>
              <a:rPr b="1" lang="en-US" sz="2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도서 대출 시스템의 한계 극복</a:t>
            </a:r>
            <a:endParaRPr sz="1800">
              <a:solidFill>
                <a:srgbClr val="37415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대출을 넘어 독자 간 다 읽은 책을 온라인에서 직접 거래할 수 있는 커뮤니티 플랫폼 지향</a:t>
            </a:r>
            <a:endParaRPr sz="18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D5A2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r>
              <a:rPr b="1" lang="en-US" sz="2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원스톱(One-Stop) 독서 선순환 구조 형성</a:t>
            </a:r>
            <a:endParaRPr sz="1800">
              <a:solidFill>
                <a:srgbClr val="37415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대출 도서의 소장 욕구 충족 및 개인 소장 도서의 장터 공유를 한곳에서 처리하도록 연계</a:t>
            </a:r>
            <a:endParaRPr sz="18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D5A2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r>
              <a:rPr b="1" lang="en-US" sz="2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'FOREST' 콘셉트의 직관적인 UI/UX</a:t>
            </a:r>
            <a:endParaRPr sz="1800">
              <a:solidFill>
                <a:srgbClr val="37415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도서관의 딱딱함을 벗어난 편안한 감성 디자인과 직관적인 도서 검색·대출 환경 제공</a:t>
            </a:r>
            <a:endParaRPr sz="18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295275" y="390525"/>
            <a:ext cx="116016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01. 기획 및 요구사항 정의</a:t>
            </a:r>
            <a:endParaRPr b="1" sz="5400">
              <a:solidFill>
                <a:srgbClr val="2D5A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5524500" y="1485900"/>
            <a:ext cx="1143000" cy="57300"/>
          </a:xfrm>
          <a:prstGeom prst="roundRect">
            <a:avLst>
              <a:gd fmla="val 50000" name="adj"/>
            </a:avLst>
          </a:prstGeom>
          <a:solidFill>
            <a:srgbClr val="84CC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16"/>
          <p:cNvGrpSpPr/>
          <p:nvPr/>
        </p:nvGrpSpPr>
        <p:grpSpPr>
          <a:xfrm>
            <a:off x="571500" y="2000250"/>
            <a:ext cx="11049000" cy="428700"/>
            <a:chOff x="571500" y="2000250"/>
            <a:chExt cx="11049000" cy="428700"/>
          </a:xfrm>
        </p:grpSpPr>
        <p:sp>
          <p:nvSpPr>
            <p:cNvPr id="109" name="Google Shape;109;p16"/>
            <p:cNvSpPr/>
            <p:nvPr/>
          </p:nvSpPr>
          <p:spPr>
            <a:xfrm>
              <a:off x="571500" y="2000250"/>
              <a:ext cx="11049000" cy="428700"/>
            </a:xfrm>
            <a:prstGeom prst="roundRect">
              <a:avLst>
                <a:gd fmla="val 17777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571500" y="2000250"/>
              <a:ext cx="1524000" cy="4287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기능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2095500" y="2000250"/>
              <a:ext cx="1143000" cy="4287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GET / POST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3238500" y="2000250"/>
              <a:ext cx="1905000" cy="4287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요청 URL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5143500" y="2000250"/>
              <a:ext cx="6477000" cy="4287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기능 요구사항 명세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571500" y="2524125"/>
            <a:ext cx="11049000" cy="571500"/>
            <a:chOff x="0" y="0"/>
            <a:chExt cx="11049000" cy="571500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0" y="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D5A27"/>
                  </a:solidFill>
                </a:rPr>
                <a:t>회원 가입</a:t>
              </a:r>
              <a:endParaRPr b="1" sz="1400">
                <a:solidFill>
                  <a:srgbClr val="2D5A27"/>
                </a:solidFill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1524000" y="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2667000" y="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member/create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4667250" y="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회원 정보 등록:</a:t>
              </a: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사용자가 입력한 가입 정보(아이디, 비밀번호 등)를 DB에 저장하여 새로운 회원 계정 생성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571500" y="3143250"/>
            <a:ext cx="11049000" cy="571500"/>
            <a:chOff x="0" y="0"/>
            <a:chExt cx="11049000" cy="571500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0" y="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D5A27"/>
                  </a:solidFill>
                </a:rPr>
                <a:t>로그인</a:t>
              </a:r>
              <a:endParaRPr b="1" sz="1400">
                <a:solidFill>
                  <a:srgbClr val="2D5A27"/>
                </a:solidFill>
              </a:endParaRPr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1524000" y="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2667000" y="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member/login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4667250" y="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사용자 인증:</a:t>
              </a: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입력받은 아이디와 비밀번호를 DB와 비교 검증하고, 일치할 경우 세션(Session)에 회원 정보를 저장하여 인증 상태 유지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571500" y="3762375"/>
            <a:ext cx="11049000" cy="476400"/>
            <a:chOff x="0" y="0"/>
            <a:chExt cx="11049000" cy="4764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11049000" cy="476400"/>
            </a:xfrm>
            <a:prstGeom prst="roundRect">
              <a:avLst>
                <a:gd fmla="val 16000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0" y="0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D5A27"/>
                  </a:solidFill>
                </a:rPr>
                <a:t>로그아웃</a:t>
              </a:r>
              <a:endParaRPr b="1" sz="1400">
                <a:solidFill>
                  <a:srgbClr val="2D5A27"/>
                </a:solidFill>
              </a:endParaRPr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1524000" y="0"/>
              <a:ext cx="114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2667000" y="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member/logout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4667250" y="0"/>
              <a:ext cx="6191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인증 세션 만료:</a:t>
              </a: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현재 브라우저에 유지 중인 사용자의 로그인 세션 정보를 무효화(Invalidate)하여 로그아웃 처리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32" name="Google Shape;132;p16"/>
          <p:cNvGrpSpPr/>
          <p:nvPr/>
        </p:nvGrpSpPr>
        <p:grpSpPr>
          <a:xfrm>
            <a:off x="571500" y="4286250"/>
            <a:ext cx="11049000" cy="476400"/>
            <a:chOff x="0" y="0"/>
            <a:chExt cx="11049000" cy="476400"/>
          </a:xfrm>
        </p:grpSpPr>
        <p:sp>
          <p:nvSpPr>
            <p:cNvPr id="133" name="Google Shape;133;p16"/>
            <p:cNvSpPr/>
            <p:nvPr/>
          </p:nvSpPr>
          <p:spPr>
            <a:xfrm>
              <a:off x="0" y="0"/>
              <a:ext cx="11049000" cy="476400"/>
            </a:xfrm>
            <a:prstGeom prst="roundRect">
              <a:avLst>
                <a:gd fmla="val 16000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0" y="0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D5A27"/>
                  </a:solidFill>
                </a:rPr>
                <a:t>회원 탈퇴</a:t>
              </a:r>
              <a:endParaRPr b="1" sz="1400">
                <a:solidFill>
                  <a:srgbClr val="2D5A27"/>
                </a:solidFill>
              </a:endParaRPr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1524000" y="0"/>
              <a:ext cx="114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2667000" y="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member/delete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4667250" y="0"/>
              <a:ext cx="6191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회원 정보 삭제:</a:t>
              </a: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탈퇴를 요청한 회원의 데이터를 DB에서 삭제하고 관련 세션 정보를 완전히 제거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571500" y="4810125"/>
            <a:ext cx="11049000" cy="476400"/>
            <a:chOff x="0" y="0"/>
            <a:chExt cx="11049000" cy="476400"/>
          </a:xfrm>
        </p:grpSpPr>
        <p:sp>
          <p:nvSpPr>
            <p:cNvPr id="139" name="Google Shape;139;p16"/>
            <p:cNvSpPr/>
            <p:nvPr/>
          </p:nvSpPr>
          <p:spPr>
            <a:xfrm>
              <a:off x="0" y="0"/>
              <a:ext cx="11049000" cy="476400"/>
            </a:xfrm>
            <a:prstGeom prst="roundRect">
              <a:avLst>
                <a:gd fmla="val 16000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0" y="0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D5A27"/>
                  </a:solidFill>
                </a:rPr>
                <a:t>도서 목록</a:t>
              </a:r>
              <a:endParaRPr b="1" sz="1400">
                <a:solidFill>
                  <a:srgbClr val="2D5A27"/>
                </a:solidFill>
              </a:endParaRPr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1524000" y="0"/>
              <a:ext cx="114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GET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2667000" y="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book/list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4667250" y="0"/>
              <a:ext cx="6191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도서 목록 조회 및 검색:</a:t>
              </a: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도서관이 보유한 전체 도서 리스트를 화면에 출력하며, 제목이나 저자 등의 키워드를 통한 검색 기능 제공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571500" y="5334000"/>
            <a:ext cx="11049000" cy="476400"/>
            <a:chOff x="0" y="0"/>
            <a:chExt cx="11049000" cy="476400"/>
          </a:xfrm>
        </p:grpSpPr>
        <p:sp>
          <p:nvSpPr>
            <p:cNvPr id="145" name="Google Shape;145;p16"/>
            <p:cNvSpPr/>
            <p:nvPr/>
          </p:nvSpPr>
          <p:spPr>
            <a:xfrm>
              <a:off x="0" y="0"/>
              <a:ext cx="11049000" cy="476400"/>
            </a:xfrm>
            <a:prstGeom prst="roundRect">
              <a:avLst>
                <a:gd fmla="val 16000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0" y="0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D5A27"/>
                  </a:solidFill>
                </a:rPr>
                <a:t>도서 상세</a:t>
              </a:r>
              <a:endParaRPr b="1" sz="1400">
                <a:solidFill>
                  <a:srgbClr val="2D5A27"/>
                </a:solidFill>
              </a:endParaRPr>
            </a:p>
          </p:txBody>
        </p:sp>
        <p:sp>
          <p:nvSpPr>
            <p:cNvPr id="147" name="Google Shape;147;p16"/>
            <p:cNvSpPr txBox="1"/>
            <p:nvPr/>
          </p:nvSpPr>
          <p:spPr>
            <a:xfrm>
              <a:off x="1524000" y="0"/>
              <a:ext cx="114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GET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2667000" y="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book/detail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4667250" y="0"/>
              <a:ext cx="6191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도서 상세 정보 조회:</a:t>
              </a: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특정 도서의 상세 정보(소개글, 출판일, 대출 가능 여부 등)를 화면에 출력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50" name="Google Shape;150;p16"/>
          <p:cNvGrpSpPr/>
          <p:nvPr/>
        </p:nvGrpSpPr>
        <p:grpSpPr>
          <a:xfrm>
            <a:off x="571500" y="5857875"/>
            <a:ext cx="11049000" cy="571500"/>
            <a:chOff x="0" y="0"/>
            <a:chExt cx="11049000" cy="571500"/>
          </a:xfrm>
        </p:grpSpPr>
        <p:sp>
          <p:nvSpPr>
            <p:cNvPr id="151" name="Google Shape;151;p16"/>
            <p:cNvSpPr/>
            <p:nvPr/>
          </p:nvSpPr>
          <p:spPr>
            <a:xfrm>
              <a:off x="0" y="0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0" y="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D5A27"/>
                  </a:solidFill>
                </a:rPr>
                <a:t>도서 추가</a:t>
              </a:r>
              <a:endParaRPr b="1" sz="1400">
                <a:solidFill>
                  <a:srgbClr val="2D5A27"/>
                </a:solidFill>
              </a:endParaRPr>
            </a:p>
          </p:txBody>
        </p:sp>
        <p:sp>
          <p:nvSpPr>
            <p:cNvPr id="153" name="Google Shape;153;p16"/>
            <p:cNvSpPr txBox="1"/>
            <p:nvPr/>
          </p:nvSpPr>
          <p:spPr>
            <a:xfrm>
              <a:off x="1524000" y="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54" name="Google Shape;154;p16"/>
            <p:cNvSpPr txBox="1"/>
            <p:nvPr/>
          </p:nvSpPr>
          <p:spPr>
            <a:xfrm>
              <a:off x="2667000" y="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book/create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55" name="Google Shape;155;p16"/>
            <p:cNvSpPr txBox="1"/>
            <p:nvPr/>
          </p:nvSpPr>
          <p:spPr>
            <a:xfrm>
              <a:off x="4667250" y="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신규 도서 등록:</a:t>
              </a: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(관리자 권한) 새로운 도서 정보(도서명, 저자, ISBN 등)를 입력받아 시스템 및 DB에 등록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295275" y="390525"/>
            <a:ext cx="116016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01. 기획 및 요구사항 정의</a:t>
            </a:r>
            <a:endParaRPr b="1" sz="5400">
              <a:solidFill>
                <a:srgbClr val="2D5A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524500" y="1485900"/>
            <a:ext cx="1143000" cy="57300"/>
          </a:xfrm>
          <a:prstGeom prst="roundRect">
            <a:avLst>
              <a:gd fmla="val 50000" name="adj"/>
            </a:avLst>
          </a:prstGeom>
          <a:solidFill>
            <a:srgbClr val="84CC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" name="Google Shape;163;p17"/>
          <p:cNvGrpSpPr/>
          <p:nvPr/>
        </p:nvGrpSpPr>
        <p:grpSpPr>
          <a:xfrm>
            <a:off x="571500" y="2000250"/>
            <a:ext cx="11049000" cy="428700"/>
            <a:chOff x="571500" y="2000250"/>
            <a:chExt cx="11049000" cy="428700"/>
          </a:xfrm>
        </p:grpSpPr>
        <p:sp>
          <p:nvSpPr>
            <p:cNvPr id="164" name="Google Shape;164;p17"/>
            <p:cNvSpPr/>
            <p:nvPr/>
          </p:nvSpPr>
          <p:spPr>
            <a:xfrm>
              <a:off x="571500" y="2000250"/>
              <a:ext cx="11049000" cy="428700"/>
            </a:xfrm>
            <a:prstGeom prst="roundRect">
              <a:avLst>
                <a:gd fmla="val 17777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571500" y="2000250"/>
              <a:ext cx="1524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기능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2095500" y="2000250"/>
              <a:ext cx="1143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GET / POST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3238500" y="2000250"/>
              <a:ext cx="190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요청 URL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5143500" y="2000250"/>
              <a:ext cx="6477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기능 요구사항 명세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69" name="Google Shape;169;p17"/>
          <p:cNvGrpSpPr/>
          <p:nvPr/>
        </p:nvGrpSpPr>
        <p:grpSpPr>
          <a:xfrm>
            <a:off x="571500" y="2524125"/>
            <a:ext cx="11049000" cy="571500"/>
            <a:chOff x="571500" y="2000250"/>
            <a:chExt cx="11049000" cy="571500"/>
          </a:xfrm>
        </p:grpSpPr>
        <p:sp>
          <p:nvSpPr>
            <p:cNvPr id="170" name="Google Shape;170;p17"/>
            <p:cNvSpPr/>
            <p:nvPr/>
          </p:nvSpPr>
          <p:spPr>
            <a:xfrm>
              <a:off x="571500" y="2000250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571500" y="20002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마이페이지</a:t>
              </a:r>
              <a:endParaRPr b="1" sz="1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2095500" y="20002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GET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73" name="Google Shape;173;p17"/>
            <p:cNvSpPr txBox="1"/>
            <p:nvPr/>
          </p:nvSpPr>
          <p:spPr>
            <a:xfrm>
              <a:off x="3238500" y="20002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member/mypage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5238750" y="200025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마이페이지 조회: 로그인한 회원의 상세 정보(이름, 프로필 사진 등)를 화면에 출력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75" name="Google Shape;175;p17"/>
          <p:cNvGrpSpPr/>
          <p:nvPr/>
        </p:nvGrpSpPr>
        <p:grpSpPr>
          <a:xfrm>
            <a:off x="571500" y="3143250"/>
            <a:ext cx="11049000" cy="571500"/>
            <a:chOff x="571500" y="2000250"/>
            <a:chExt cx="11049000" cy="571500"/>
          </a:xfrm>
        </p:grpSpPr>
        <p:sp>
          <p:nvSpPr>
            <p:cNvPr id="176" name="Google Shape;176;p17"/>
            <p:cNvSpPr/>
            <p:nvPr/>
          </p:nvSpPr>
          <p:spPr>
            <a:xfrm>
              <a:off x="571500" y="2000250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571500" y="20002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내 정보 수정</a:t>
              </a:r>
              <a:endParaRPr b="1" sz="1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78" name="Google Shape;178;p17"/>
            <p:cNvSpPr txBox="1"/>
            <p:nvPr/>
          </p:nvSpPr>
          <p:spPr>
            <a:xfrm>
              <a:off x="2095500" y="20002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79" name="Google Shape;179;p17"/>
            <p:cNvSpPr txBox="1"/>
            <p:nvPr/>
          </p:nvSpPr>
          <p:spPr>
            <a:xfrm>
              <a:off x="3238500" y="20002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member/update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80" name="Google Shape;180;p17"/>
            <p:cNvSpPr txBox="1"/>
            <p:nvPr/>
          </p:nvSpPr>
          <p:spPr>
            <a:xfrm>
              <a:off x="5238750" y="200025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회원 정보 수정: 사용자가 입력한 수정 정보(비밀번호, 프로필 이미지 등)를 DB에 반영하고 회원 정보 갱신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81" name="Google Shape;181;p17"/>
          <p:cNvGrpSpPr/>
          <p:nvPr/>
        </p:nvGrpSpPr>
        <p:grpSpPr>
          <a:xfrm>
            <a:off x="571500" y="3762375"/>
            <a:ext cx="11049000" cy="571500"/>
            <a:chOff x="571500" y="2000250"/>
            <a:chExt cx="11049000" cy="571500"/>
          </a:xfrm>
        </p:grpSpPr>
        <p:sp>
          <p:nvSpPr>
            <p:cNvPr id="182" name="Google Shape;182;p17"/>
            <p:cNvSpPr/>
            <p:nvPr/>
          </p:nvSpPr>
          <p:spPr>
            <a:xfrm>
              <a:off x="571500" y="2000250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7"/>
            <p:cNvSpPr txBox="1"/>
            <p:nvPr/>
          </p:nvSpPr>
          <p:spPr>
            <a:xfrm>
              <a:off x="571500" y="20002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도서 대출 목록</a:t>
              </a:r>
              <a:endParaRPr b="1" sz="1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84" name="Google Shape;184;p17"/>
            <p:cNvSpPr txBox="1"/>
            <p:nvPr/>
          </p:nvSpPr>
          <p:spPr>
            <a:xfrm>
              <a:off x="2095500" y="20002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GET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85" name="Google Shape;185;p17"/>
            <p:cNvSpPr txBox="1"/>
            <p:nvPr/>
          </p:nvSpPr>
          <p:spPr>
            <a:xfrm>
              <a:off x="3238500" y="20002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rent/list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86" name="Google Shape;186;p17"/>
            <p:cNvSpPr txBox="1"/>
            <p:nvPr/>
          </p:nvSpPr>
          <p:spPr>
            <a:xfrm>
              <a:off x="5238750" y="200025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대출 현황 조회: 현재 로그인한 회원이 대출 중인 도서 목록 및 반납일, 반납 예정, 여부 여부를 리스트로 출력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87" name="Google Shape;187;p17"/>
          <p:cNvGrpSpPr/>
          <p:nvPr/>
        </p:nvGrpSpPr>
        <p:grpSpPr>
          <a:xfrm>
            <a:off x="571500" y="4381500"/>
            <a:ext cx="11049000" cy="571500"/>
            <a:chOff x="571500" y="2000250"/>
            <a:chExt cx="11049000" cy="571500"/>
          </a:xfrm>
        </p:grpSpPr>
        <p:sp>
          <p:nvSpPr>
            <p:cNvPr id="188" name="Google Shape;188;p17"/>
            <p:cNvSpPr/>
            <p:nvPr/>
          </p:nvSpPr>
          <p:spPr>
            <a:xfrm>
              <a:off x="571500" y="2000250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7"/>
            <p:cNvSpPr txBox="1"/>
            <p:nvPr/>
          </p:nvSpPr>
          <p:spPr>
            <a:xfrm>
              <a:off x="571500" y="20002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도서 대출</a:t>
              </a:r>
              <a:endParaRPr b="1" sz="1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90" name="Google Shape;190;p17"/>
            <p:cNvSpPr txBox="1"/>
            <p:nvPr/>
          </p:nvSpPr>
          <p:spPr>
            <a:xfrm>
              <a:off x="2095500" y="20002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91" name="Google Shape;191;p17"/>
            <p:cNvSpPr txBox="1"/>
            <p:nvPr/>
          </p:nvSpPr>
          <p:spPr>
            <a:xfrm>
              <a:off x="3238500" y="20002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rent/create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92" name="Google Shape;192;p17"/>
            <p:cNvSpPr txBox="1"/>
            <p:nvPr/>
          </p:nvSpPr>
          <p:spPr>
            <a:xfrm>
              <a:off x="5238750" y="200025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도서 대출 처리: 특정 도서에 대한 대출 신청을 처리하고, 대출 데이터 생성 및 도서의 대출 상태 (대출중) 변경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93" name="Google Shape;193;p17"/>
          <p:cNvGrpSpPr/>
          <p:nvPr/>
        </p:nvGrpSpPr>
        <p:grpSpPr>
          <a:xfrm>
            <a:off x="571500" y="5000625"/>
            <a:ext cx="11049000" cy="571500"/>
            <a:chOff x="571500" y="2000250"/>
            <a:chExt cx="11049000" cy="571500"/>
          </a:xfrm>
        </p:grpSpPr>
        <p:sp>
          <p:nvSpPr>
            <p:cNvPr id="194" name="Google Shape;194;p17"/>
            <p:cNvSpPr/>
            <p:nvPr/>
          </p:nvSpPr>
          <p:spPr>
            <a:xfrm>
              <a:off x="571500" y="2000250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7"/>
            <p:cNvSpPr txBox="1"/>
            <p:nvPr/>
          </p:nvSpPr>
          <p:spPr>
            <a:xfrm>
              <a:off x="571500" y="20002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도서 반납</a:t>
              </a:r>
              <a:endParaRPr b="1" sz="1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96" name="Google Shape;196;p17"/>
            <p:cNvSpPr txBox="1"/>
            <p:nvPr/>
          </p:nvSpPr>
          <p:spPr>
            <a:xfrm>
              <a:off x="2095500" y="20002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97" name="Google Shape;197;p17"/>
            <p:cNvSpPr txBox="1"/>
            <p:nvPr/>
          </p:nvSpPr>
          <p:spPr>
            <a:xfrm>
              <a:off x="3238500" y="20002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rent/delete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98" name="Google Shape;198;p17"/>
            <p:cNvSpPr txBox="1"/>
            <p:nvPr/>
          </p:nvSpPr>
          <p:spPr>
            <a:xfrm>
              <a:off x="5238750" y="200025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도서 반납 처리: 대출 중인 도서의 반납을 처리하고, 대출 기록 업데이트 및 도서 상태를 "대출 가능"으로 전환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99" name="Google Shape;199;p17"/>
          <p:cNvGrpSpPr/>
          <p:nvPr/>
        </p:nvGrpSpPr>
        <p:grpSpPr>
          <a:xfrm>
            <a:off x="571500" y="5619750"/>
            <a:ext cx="11049000" cy="571500"/>
            <a:chOff x="571500" y="2000250"/>
            <a:chExt cx="11049000" cy="571500"/>
          </a:xfrm>
        </p:grpSpPr>
        <p:sp>
          <p:nvSpPr>
            <p:cNvPr id="200" name="Google Shape;200;p17"/>
            <p:cNvSpPr/>
            <p:nvPr/>
          </p:nvSpPr>
          <p:spPr>
            <a:xfrm>
              <a:off x="571500" y="2000250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 txBox="1"/>
            <p:nvPr/>
          </p:nvSpPr>
          <p:spPr>
            <a:xfrm>
              <a:off x="571500" y="20002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관심 목록</a:t>
              </a:r>
              <a:endParaRPr b="1" sz="1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02" name="Google Shape;202;p17"/>
            <p:cNvSpPr txBox="1"/>
            <p:nvPr/>
          </p:nvSpPr>
          <p:spPr>
            <a:xfrm>
              <a:off x="2095500" y="20002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GET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3238500" y="20002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wishlist/list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04" name="Google Shape;204;p17"/>
            <p:cNvSpPr txBox="1"/>
            <p:nvPr/>
          </p:nvSpPr>
          <p:spPr>
            <a:xfrm>
              <a:off x="5238750" y="200025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관심 목록 조회: 회원이 찜(관심 등록)한 도서 목록을 확인 할 수 있도록 위시 리스트 형식으로 제공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05" name="Google Shape;205;p17"/>
          <p:cNvGrpSpPr/>
          <p:nvPr/>
        </p:nvGrpSpPr>
        <p:grpSpPr>
          <a:xfrm>
            <a:off x="571500" y="6238875"/>
            <a:ext cx="11049000" cy="571500"/>
            <a:chOff x="571500" y="2000250"/>
            <a:chExt cx="11049000" cy="571500"/>
          </a:xfrm>
        </p:grpSpPr>
        <p:sp>
          <p:nvSpPr>
            <p:cNvPr id="206" name="Google Shape;206;p17"/>
            <p:cNvSpPr/>
            <p:nvPr/>
          </p:nvSpPr>
          <p:spPr>
            <a:xfrm>
              <a:off x="571500" y="2000250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 txBox="1"/>
            <p:nvPr/>
          </p:nvSpPr>
          <p:spPr>
            <a:xfrm>
              <a:off x="571500" y="20002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관심 목록 추가</a:t>
              </a:r>
              <a:endParaRPr b="1" sz="1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08" name="Google Shape;208;p17"/>
            <p:cNvSpPr txBox="1"/>
            <p:nvPr/>
          </p:nvSpPr>
          <p:spPr>
            <a:xfrm>
              <a:off x="2095500" y="20002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09" name="Google Shape;209;p17"/>
            <p:cNvSpPr txBox="1"/>
            <p:nvPr/>
          </p:nvSpPr>
          <p:spPr>
            <a:xfrm>
              <a:off x="3238500" y="20002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wishlist/create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10" name="Google Shape;210;p17"/>
            <p:cNvSpPr txBox="1"/>
            <p:nvPr/>
          </p:nvSpPr>
          <p:spPr>
            <a:xfrm>
              <a:off x="5238750" y="200025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관심 도서 등록: 도서 상세 페이지에서 "찜하기" 버튼 클릭 시, 해당 도서를 회원의 관심 목록 DB에 추가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295275" y="390525"/>
            <a:ext cx="116016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01. 기획 및 요구사항 정의</a:t>
            </a:r>
            <a:endParaRPr b="1" sz="5400">
              <a:solidFill>
                <a:srgbClr val="2D5A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5524500" y="1485900"/>
            <a:ext cx="1143000" cy="57300"/>
          </a:xfrm>
          <a:prstGeom prst="roundRect">
            <a:avLst>
              <a:gd fmla="val 50000" name="adj"/>
            </a:avLst>
          </a:prstGeom>
          <a:solidFill>
            <a:srgbClr val="84CC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571500" y="2000250"/>
            <a:ext cx="11049000" cy="428700"/>
          </a:xfrm>
          <a:prstGeom prst="roundRect">
            <a:avLst>
              <a:gd fmla="val 1777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571500" y="2000250"/>
            <a:ext cx="1524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기능</a:t>
            </a:r>
            <a:endParaRPr b="1" sz="14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2095500" y="2000250"/>
            <a:ext cx="1143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GET / POST</a:t>
            </a:r>
            <a:endParaRPr b="1" sz="14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3238500" y="2000250"/>
            <a:ext cx="190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요청 URL</a:t>
            </a:r>
            <a:endParaRPr b="1" sz="14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5143500" y="2000250"/>
            <a:ext cx="6477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기능 요구사항 명세</a:t>
            </a:r>
            <a:endParaRPr b="1" sz="14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223" name="Google Shape;223;p18"/>
          <p:cNvGrpSpPr/>
          <p:nvPr/>
        </p:nvGrpSpPr>
        <p:grpSpPr>
          <a:xfrm>
            <a:off x="571500" y="2524125"/>
            <a:ext cx="11049000" cy="571500"/>
            <a:chOff x="571500" y="2524125"/>
            <a:chExt cx="11049000" cy="571500"/>
          </a:xfrm>
        </p:grpSpPr>
        <p:sp>
          <p:nvSpPr>
            <p:cNvPr id="224" name="Google Shape;224;p18"/>
            <p:cNvSpPr/>
            <p:nvPr/>
          </p:nvSpPr>
          <p:spPr>
            <a:xfrm>
              <a:off x="571500" y="2524125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8"/>
            <p:cNvSpPr txBox="1"/>
            <p:nvPr/>
          </p:nvSpPr>
          <p:spPr>
            <a:xfrm>
              <a:off x="571500" y="2524125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중고 거래 목록</a:t>
              </a:r>
              <a:endParaRPr b="1" sz="1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26" name="Google Shape;226;p18"/>
            <p:cNvSpPr txBox="1"/>
            <p:nvPr/>
          </p:nvSpPr>
          <p:spPr>
            <a:xfrm>
              <a:off x="2095500" y="2524125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GET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27" name="Google Shape;227;p18"/>
            <p:cNvSpPr txBox="1"/>
            <p:nvPr/>
          </p:nvSpPr>
          <p:spPr>
            <a:xfrm>
              <a:off x="3238500" y="252412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dealboard/list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28" name="Google Shape;228;p18"/>
            <p:cNvSpPr txBox="1"/>
            <p:nvPr/>
          </p:nvSpPr>
          <p:spPr>
            <a:xfrm>
              <a:off x="5238750" y="2524125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중고 거래 게시글 목록 조회 : 사용자들이 등록한 중고 도서 판매/구매 게시글 리스트를 최신순으로 화면에 출력 및 검색 기능 제공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29" name="Google Shape;229;p18"/>
          <p:cNvGrpSpPr/>
          <p:nvPr/>
        </p:nvGrpSpPr>
        <p:grpSpPr>
          <a:xfrm>
            <a:off x="571500" y="3143250"/>
            <a:ext cx="11049000" cy="571500"/>
            <a:chOff x="571500" y="3143250"/>
            <a:chExt cx="11049000" cy="571500"/>
          </a:xfrm>
        </p:grpSpPr>
        <p:sp>
          <p:nvSpPr>
            <p:cNvPr id="230" name="Google Shape;230;p18"/>
            <p:cNvSpPr/>
            <p:nvPr/>
          </p:nvSpPr>
          <p:spPr>
            <a:xfrm>
              <a:off x="571500" y="3143250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 txBox="1"/>
            <p:nvPr/>
          </p:nvSpPr>
          <p:spPr>
            <a:xfrm>
              <a:off x="571500" y="31432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중고 거래 목록(작성자)</a:t>
              </a:r>
              <a:endParaRPr b="1" sz="1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32" name="Google Shape;232;p18"/>
            <p:cNvSpPr txBox="1"/>
            <p:nvPr/>
          </p:nvSpPr>
          <p:spPr>
            <a:xfrm>
              <a:off x="2095500" y="31432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GET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3238500" y="31432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dealboard/myboard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34" name="Google Shape;234;p18"/>
            <p:cNvSpPr txBox="1"/>
            <p:nvPr/>
          </p:nvSpPr>
          <p:spPr>
            <a:xfrm>
              <a:off x="5238750" y="314325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내가 쓴 거래 글 조회 : 현재 로그인한 회원이 작성한 중고 거래 게시글만 필터링하여 리스트로 출력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35" name="Google Shape;235;p18"/>
          <p:cNvGrpSpPr/>
          <p:nvPr/>
        </p:nvGrpSpPr>
        <p:grpSpPr>
          <a:xfrm>
            <a:off x="571500" y="3762375"/>
            <a:ext cx="11049000" cy="571500"/>
            <a:chOff x="571500" y="3762375"/>
            <a:chExt cx="11049000" cy="571500"/>
          </a:xfrm>
        </p:grpSpPr>
        <p:sp>
          <p:nvSpPr>
            <p:cNvPr id="236" name="Google Shape;236;p18"/>
            <p:cNvSpPr/>
            <p:nvPr/>
          </p:nvSpPr>
          <p:spPr>
            <a:xfrm>
              <a:off x="571500" y="3762375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8"/>
            <p:cNvSpPr txBox="1"/>
            <p:nvPr/>
          </p:nvSpPr>
          <p:spPr>
            <a:xfrm>
              <a:off x="571500" y="3762375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중고 거래 상세</a:t>
              </a:r>
              <a:endParaRPr b="1" sz="1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38" name="Google Shape;238;p18"/>
            <p:cNvSpPr txBox="1"/>
            <p:nvPr/>
          </p:nvSpPr>
          <p:spPr>
            <a:xfrm>
              <a:off x="2095500" y="3762375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GET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39" name="Google Shape;239;p18"/>
            <p:cNvSpPr txBox="1"/>
            <p:nvPr/>
          </p:nvSpPr>
          <p:spPr>
            <a:xfrm>
              <a:off x="3238500" y="376237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dealboard/detail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40" name="Google Shape;240;p18"/>
            <p:cNvSpPr txBox="1"/>
            <p:nvPr/>
          </p:nvSpPr>
          <p:spPr>
            <a:xfrm>
              <a:off x="5238750" y="3762375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거래 게시글 상세 조회 : 특정 게시글의 상세 내용(도서 상세, 가격, 판매자 정보 등)을 화면에 출력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41" name="Google Shape;241;p18"/>
          <p:cNvGrpSpPr/>
          <p:nvPr/>
        </p:nvGrpSpPr>
        <p:grpSpPr>
          <a:xfrm>
            <a:off x="571500" y="4381500"/>
            <a:ext cx="11049000" cy="571500"/>
            <a:chOff x="571500" y="4381500"/>
            <a:chExt cx="11049000" cy="571500"/>
          </a:xfrm>
        </p:grpSpPr>
        <p:sp>
          <p:nvSpPr>
            <p:cNvPr id="242" name="Google Shape;242;p18"/>
            <p:cNvSpPr/>
            <p:nvPr/>
          </p:nvSpPr>
          <p:spPr>
            <a:xfrm>
              <a:off x="571500" y="4381500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8"/>
            <p:cNvSpPr txBox="1"/>
            <p:nvPr/>
          </p:nvSpPr>
          <p:spPr>
            <a:xfrm>
              <a:off x="571500" y="438150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중고 거래 글 작성</a:t>
              </a:r>
              <a:endParaRPr b="1" sz="1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44" name="Google Shape;244;p18"/>
            <p:cNvSpPr txBox="1"/>
            <p:nvPr/>
          </p:nvSpPr>
          <p:spPr>
            <a:xfrm>
              <a:off x="2095500" y="438150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45" name="Google Shape;245;p18"/>
            <p:cNvSpPr txBox="1"/>
            <p:nvPr/>
          </p:nvSpPr>
          <p:spPr>
            <a:xfrm>
              <a:off x="3238500" y="43815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dealboard/create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46" name="Google Shape;246;p18"/>
            <p:cNvSpPr txBox="1"/>
            <p:nvPr/>
          </p:nvSpPr>
          <p:spPr>
            <a:xfrm>
              <a:off x="5238750" y="438150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중고 거래 도서 등록 : 사용자가 입력한 게시글 정보(제목, 도서 정보, 가격, 이미지 등)를 검증 후 DB에 저장하여 신규 판매글 등록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47" name="Google Shape;247;p18"/>
          <p:cNvGrpSpPr/>
          <p:nvPr/>
        </p:nvGrpSpPr>
        <p:grpSpPr>
          <a:xfrm>
            <a:off x="571500" y="5000625"/>
            <a:ext cx="11049000" cy="571500"/>
            <a:chOff x="571500" y="5000625"/>
            <a:chExt cx="11049000" cy="571500"/>
          </a:xfrm>
        </p:grpSpPr>
        <p:sp>
          <p:nvSpPr>
            <p:cNvPr id="248" name="Google Shape;248;p18"/>
            <p:cNvSpPr/>
            <p:nvPr/>
          </p:nvSpPr>
          <p:spPr>
            <a:xfrm>
              <a:off x="571500" y="5000625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8"/>
            <p:cNvSpPr txBox="1"/>
            <p:nvPr/>
          </p:nvSpPr>
          <p:spPr>
            <a:xfrm>
              <a:off x="571500" y="5000625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중고 거래 수정</a:t>
              </a:r>
              <a:endParaRPr b="1" sz="1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50" name="Google Shape;250;p18"/>
            <p:cNvSpPr txBox="1"/>
            <p:nvPr/>
          </p:nvSpPr>
          <p:spPr>
            <a:xfrm>
              <a:off x="2095500" y="5000625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51" name="Google Shape;251;p18"/>
            <p:cNvSpPr txBox="1"/>
            <p:nvPr/>
          </p:nvSpPr>
          <p:spPr>
            <a:xfrm>
              <a:off x="3238500" y="500062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dealboard/update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52" name="Google Shape;252;p18"/>
            <p:cNvSpPr txBox="1"/>
            <p:nvPr/>
          </p:nvSpPr>
          <p:spPr>
            <a:xfrm>
              <a:off x="5238750" y="5000625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중고 거래 게시글 수정 : 본인이 작성한 게시물의 내용(가격, 설명, 판매 상태 등)을 변경하여 DB에 반영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53" name="Google Shape;253;p18"/>
          <p:cNvGrpSpPr/>
          <p:nvPr/>
        </p:nvGrpSpPr>
        <p:grpSpPr>
          <a:xfrm>
            <a:off x="571500" y="5619750"/>
            <a:ext cx="11049000" cy="571500"/>
            <a:chOff x="571500" y="5619750"/>
            <a:chExt cx="11049000" cy="571500"/>
          </a:xfrm>
        </p:grpSpPr>
        <p:sp>
          <p:nvSpPr>
            <p:cNvPr id="254" name="Google Shape;254;p18"/>
            <p:cNvSpPr/>
            <p:nvPr/>
          </p:nvSpPr>
          <p:spPr>
            <a:xfrm>
              <a:off x="571500" y="5619750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8"/>
            <p:cNvSpPr txBox="1"/>
            <p:nvPr/>
          </p:nvSpPr>
          <p:spPr>
            <a:xfrm>
              <a:off x="571500" y="56197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중고 거래 삭제</a:t>
              </a:r>
              <a:endParaRPr b="1" sz="1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56" name="Google Shape;256;p18"/>
            <p:cNvSpPr txBox="1"/>
            <p:nvPr/>
          </p:nvSpPr>
          <p:spPr>
            <a:xfrm>
              <a:off x="2095500" y="56197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GET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57" name="Google Shape;257;p18"/>
            <p:cNvSpPr txBox="1"/>
            <p:nvPr/>
          </p:nvSpPr>
          <p:spPr>
            <a:xfrm>
              <a:off x="3238500" y="56197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dealboard/delete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58" name="Google Shape;258;p18"/>
            <p:cNvSpPr txBox="1"/>
            <p:nvPr/>
          </p:nvSpPr>
          <p:spPr>
            <a:xfrm>
              <a:off x="5238750" y="561975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중고 거래 게시글 삭제 : 본인이 작성한 게시글을 삭제 요청 시, 해당 데이터를 DB 및 목록에서 삭제 처리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59" name="Google Shape;259;p18"/>
          <p:cNvGrpSpPr/>
          <p:nvPr/>
        </p:nvGrpSpPr>
        <p:grpSpPr>
          <a:xfrm>
            <a:off x="571500" y="6238875"/>
            <a:ext cx="11049000" cy="571500"/>
            <a:chOff x="571500" y="6238875"/>
            <a:chExt cx="11049000" cy="571500"/>
          </a:xfrm>
        </p:grpSpPr>
        <p:sp>
          <p:nvSpPr>
            <p:cNvPr id="260" name="Google Shape;260;p18"/>
            <p:cNvSpPr/>
            <p:nvPr/>
          </p:nvSpPr>
          <p:spPr>
            <a:xfrm>
              <a:off x="571500" y="6238875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8"/>
            <p:cNvSpPr txBox="1"/>
            <p:nvPr/>
          </p:nvSpPr>
          <p:spPr>
            <a:xfrm>
              <a:off x="571500" y="6238875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거래 완료</a:t>
              </a:r>
              <a:endParaRPr b="1" sz="12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62" name="Google Shape;262;p18"/>
            <p:cNvSpPr txBox="1"/>
            <p:nvPr/>
          </p:nvSpPr>
          <p:spPr>
            <a:xfrm>
              <a:off x="2095500" y="6238875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GET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63" name="Google Shape;263;p18"/>
            <p:cNvSpPr txBox="1"/>
            <p:nvPr/>
          </p:nvSpPr>
          <p:spPr>
            <a:xfrm>
              <a:off x="3238500" y="623887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order/pay/completed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64" name="Google Shape;264;p18"/>
            <p:cNvSpPr txBox="1"/>
            <p:nvPr/>
          </p:nvSpPr>
          <p:spPr>
            <a:xfrm>
              <a:off x="5238750" y="6238875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주문 및 결제 완료 처리 : 중고 도서 거래가 성공적으로 완료(카카오페이 결제 등)되었을 때, 거래 상태를 "판매 완료"로 변경하고 결제 완료 데이터 생성 (상단바 알림 연동)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9"/>
          <p:cNvPicPr preferRelativeResize="0"/>
          <p:nvPr/>
        </p:nvPicPr>
        <p:blipFill rotWithShape="1">
          <a:blip r:embed="rId5">
            <a:alphaModFix/>
          </a:blip>
          <a:srcRect b="308" l="0" r="0" t="298"/>
          <a:stretch/>
        </p:blipFill>
        <p:spPr>
          <a:xfrm>
            <a:off x="571500" y="2095500"/>
            <a:ext cx="3492300" cy="35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9"/>
          <p:cNvPicPr preferRelativeResize="0"/>
          <p:nvPr/>
        </p:nvPicPr>
        <p:blipFill rotWithShape="1">
          <a:blip r:embed="rId6">
            <a:alphaModFix/>
          </a:blip>
          <a:srcRect b="169" l="0" r="0" t="169"/>
          <a:stretch/>
        </p:blipFill>
        <p:spPr>
          <a:xfrm>
            <a:off x="4349648" y="2095500"/>
            <a:ext cx="3492600" cy="35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9"/>
          <p:cNvPicPr preferRelativeResize="0"/>
          <p:nvPr/>
        </p:nvPicPr>
        <p:blipFill rotWithShape="1">
          <a:blip r:embed="rId5">
            <a:alphaModFix/>
          </a:blip>
          <a:srcRect b="308" l="0" r="0" t="298"/>
          <a:stretch/>
        </p:blipFill>
        <p:spPr>
          <a:xfrm>
            <a:off x="8127949" y="2095500"/>
            <a:ext cx="3492300" cy="35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9"/>
          <p:cNvPicPr preferRelativeResize="0"/>
          <p:nvPr/>
        </p:nvPicPr>
        <p:blipFill rotWithShape="1">
          <a:blip r:embed="rId7">
            <a:alphaModFix/>
          </a:blip>
          <a:srcRect b="0" l="554" r="544" t="0"/>
          <a:stretch/>
        </p:blipFill>
        <p:spPr>
          <a:xfrm>
            <a:off x="1889074" y="2486025"/>
            <a:ext cx="857400" cy="8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9"/>
          <p:cNvSpPr txBox="1"/>
          <p:nvPr/>
        </p:nvSpPr>
        <p:spPr>
          <a:xfrm>
            <a:off x="888949" y="3581400"/>
            <a:ext cx="28575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회원 관리</a:t>
            </a:r>
            <a:endParaRPr b="1" sz="2100">
              <a:solidFill>
                <a:srgbClr val="1F293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962025" y="4048125"/>
            <a:ext cx="2711400" cy="8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Role 기반 권한 제어</a:t>
            </a:r>
            <a:endParaRPr sz="1350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(Admin / Manager / Member), 회원가입/로그인 및 마이페이지 활동 내역 추적</a:t>
            </a:r>
            <a:endParaRPr b="0" sz="1350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76" name="Google Shape;276;p19"/>
          <p:cNvPicPr preferRelativeResize="0"/>
          <p:nvPr/>
        </p:nvPicPr>
        <p:blipFill rotWithShape="1">
          <a:blip r:embed="rId8">
            <a:alphaModFix/>
          </a:blip>
          <a:srcRect b="0" l="554" r="544" t="0"/>
          <a:stretch/>
        </p:blipFill>
        <p:spPr>
          <a:xfrm>
            <a:off x="5667223" y="2486025"/>
            <a:ext cx="857400" cy="8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9"/>
          <p:cNvSpPr txBox="1"/>
          <p:nvPr/>
        </p:nvSpPr>
        <p:spPr>
          <a:xfrm>
            <a:off x="4667098" y="3581400"/>
            <a:ext cx="28575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도서 및 대출</a:t>
            </a:r>
            <a:endParaRPr b="1" sz="2100">
              <a:solidFill>
                <a:srgbClr val="1F293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4740173" y="4048125"/>
            <a:ext cx="2711400" cy="8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도서 정보 통합 관리, 네이버 도서 API를 통한 손쉬운 신규 도서 등록, 실시간 대출/반납 프로세스 및 대출 가능 여부 검증 시스템</a:t>
            </a:r>
            <a:endParaRPr b="0" sz="1350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79" name="Google Shape;279;p19"/>
          <p:cNvPicPr preferRelativeResize="0"/>
          <p:nvPr/>
        </p:nvPicPr>
        <p:blipFill rotWithShape="1">
          <a:blip r:embed="rId9">
            <a:alphaModFix/>
          </a:blip>
          <a:srcRect b="0" l="554" r="544" t="0"/>
          <a:stretch/>
        </p:blipFill>
        <p:spPr>
          <a:xfrm>
            <a:off x="9445523" y="2486025"/>
            <a:ext cx="857400" cy="8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9"/>
          <p:cNvSpPr txBox="1"/>
          <p:nvPr/>
        </p:nvSpPr>
        <p:spPr>
          <a:xfrm>
            <a:off x="8445398" y="3581400"/>
            <a:ext cx="28575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중고 장터</a:t>
            </a:r>
            <a:endParaRPr b="1" sz="2100">
              <a:solidFill>
                <a:srgbClr val="1F293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8518474" y="4048125"/>
            <a:ext cx="27114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도서 직거래 게시판 운영, 카카오페이 테스트결제 API를 통해 판매 및 구매 관리, 사용자 간 비동기 커뮤니케이션</a:t>
            </a:r>
            <a:endParaRPr b="0" sz="1350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82" name="Google Shape;282;p19"/>
          <p:cNvPicPr preferRelativeResize="0"/>
          <p:nvPr/>
        </p:nvPicPr>
        <p:blipFill rotWithShape="1">
          <a:blip r:embed="rId10">
            <a:alphaModFix/>
          </a:blip>
          <a:srcRect b="-55650" l="-38252" r="-38270" t="-62500"/>
          <a:stretch/>
        </p:blipFill>
        <p:spPr>
          <a:xfrm>
            <a:off x="1889075" y="2486025"/>
            <a:ext cx="857400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9"/>
          <p:cNvPicPr preferRelativeResize="0"/>
          <p:nvPr/>
        </p:nvPicPr>
        <p:blipFill rotWithShape="1">
          <a:blip r:embed="rId11">
            <a:alphaModFix/>
          </a:blip>
          <a:srcRect b="0" l="6770" r="6770" t="0"/>
          <a:stretch/>
        </p:blipFill>
        <p:spPr>
          <a:xfrm>
            <a:off x="5947620" y="2724150"/>
            <a:ext cx="2964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9"/>
          <p:cNvPicPr preferRelativeResize="0"/>
          <p:nvPr/>
        </p:nvPicPr>
        <p:blipFill rotWithShape="1">
          <a:blip r:embed="rId12">
            <a:alphaModFix/>
          </a:blip>
          <a:srcRect b="0" l="16172" r="16165" t="0"/>
          <a:stretch/>
        </p:blipFill>
        <p:spPr>
          <a:xfrm>
            <a:off x="9725882" y="2724150"/>
            <a:ext cx="2964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9"/>
          <p:cNvSpPr/>
          <p:nvPr/>
        </p:nvSpPr>
        <p:spPr>
          <a:xfrm>
            <a:off x="5524500" y="1485900"/>
            <a:ext cx="1143000" cy="57300"/>
          </a:xfrm>
          <a:prstGeom prst="roundRect">
            <a:avLst>
              <a:gd fmla="val 50000" name="adj"/>
            </a:avLst>
          </a:prstGeom>
          <a:solidFill>
            <a:srgbClr val="84CC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286" name="Google Shape;286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1500" y="633412"/>
            <a:ext cx="281582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9"/>
          <p:cNvSpPr txBox="1"/>
          <p:nvPr/>
        </p:nvSpPr>
        <p:spPr>
          <a:xfrm>
            <a:off x="995957" y="571500"/>
            <a:ext cx="11155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요구사항 기술서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0"/>
          <p:cNvSpPr txBox="1"/>
          <p:nvPr/>
        </p:nvSpPr>
        <p:spPr>
          <a:xfrm>
            <a:off x="295275" y="393192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02. 개발 환경 및 아키텍처</a:t>
            </a: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5524500" y="1490472"/>
            <a:ext cx="1143000" cy="573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548675" y="2392200"/>
            <a:ext cx="5111400" cy="3195300"/>
          </a:xfrm>
          <a:prstGeom prst="roundRect">
            <a:avLst>
              <a:gd fmla="val 16667" name="adj"/>
            </a:avLst>
          </a:prstGeom>
          <a:solidFill>
            <a:srgbClr val="2D5A2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6" name="Google Shape;2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8375" y="4371162"/>
            <a:ext cx="125149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5974" y="4371162"/>
            <a:ext cx="2030313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08375" y="4802737"/>
            <a:ext cx="878383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87725" y="3939599"/>
            <a:ext cx="76854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96889" y="3939599"/>
            <a:ext cx="1539031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08363" y="3939587"/>
            <a:ext cx="836711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0"/>
          <p:cNvSpPr txBox="1"/>
          <p:nvPr/>
        </p:nvSpPr>
        <p:spPr>
          <a:xfrm>
            <a:off x="1176875" y="3154680"/>
            <a:ext cx="3855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6D7A8"/>
                </a:solidFill>
                <a:latin typeface="Noto Sans KR"/>
                <a:ea typeface="Noto Sans KR"/>
                <a:cs typeface="Noto Sans KR"/>
                <a:sym typeface="Noto Sans KR"/>
              </a:rPr>
              <a:t>Java 21 런타임과 Spring Boot 코어를 기반으로 안정적이고 신속한 웹 서비스 환경을 구축했습니다.</a:t>
            </a:r>
            <a:endParaRPr>
              <a:solidFill>
                <a:srgbClr val="B6D7A8"/>
              </a:solidFill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1198711" y="2673504"/>
            <a:ext cx="3935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2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AFFDE"/>
                </a:solidFill>
                <a:latin typeface="Noto Sans KR"/>
                <a:ea typeface="Noto Sans KR"/>
                <a:cs typeface="Noto Sans KR"/>
                <a:sym typeface="Noto Sans KR"/>
              </a:rPr>
              <a:t>개발 환경 (Tech Stack)</a:t>
            </a:r>
            <a:endParaRPr/>
          </a:p>
        </p:txBody>
      </p:sp>
      <p:pic>
        <p:nvPicPr>
          <p:cNvPr descr="image.png" id="304" name="Google Shape;304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15650" y="2699829"/>
            <a:ext cx="19273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0"/>
          <p:cNvSpPr/>
          <p:nvPr/>
        </p:nvSpPr>
        <p:spPr>
          <a:xfrm>
            <a:off x="6557225" y="2395728"/>
            <a:ext cx="5111400" cy="3195300"/>
          </a:xfrm>
          <a:prstGeom prst="roundRect">
            <a:avLst>
              <a:gd fmla="val 16667" name="adj"/>
            </a:avLst>
          </a:prstGeom>
          <a:solidFill>
            <a:srgbClr val="2D5A2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7207261" y="2670048"/>
            <a:ext cx="3935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27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DAFFDE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구조 (Architecture)</a:t>
            </a:r>
            <a:endParaRPr sz="1950">
              <a:solidFill>
                <a:srgbClr val="DAFFD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image.png" id="307" name="Google Shape;30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10800" y="2699829"/>
            <a:ext cx="19273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0"/>
          <p:cNvSpPr txBox="1"/>
          <p:nvPr/>
        </p:nvSpPr>
        <p:spPr>
          <a:xfrm>
            <a:off x="7110800" y="3154675"/>
            <a:ext cx="4116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25">
                <a:solidFill>
                  <a:srgbClr val="B0C4B1"/>
                </a:solidFill>
                <a:latin typeface="Noto Sans KR"/>
                <a:ea typeface="Noto Sans KR"/>
                <a:cs typeface="Noto Sans KR"/>
                <a:sym typeface="Noto Sans KR"/>
              </a:rPr>
              <a:t>Spring MVC 패턴 기반의 안정적인 계층형 아키텍처 </a:t>
            </a:r>
            <a:endParaRPr>
              <a:solidFill>
                <a:srgbClr val="B6D7A8"/>
              </a:solidFill>
            </a:endParaRPr>
          </a:p>
        </p:txBody>
      </p:sp>
      <p:pic>
        <p:nvPicPr>
          <p:cNvPr descr="image.png" id="309" name="Google Shape;309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10800" y="4184032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0"/>
          <p:cNvSpPr txBox="1"/>
          <p:nvPr/>
        </p:nvSpPr>
        <p:spPr>
          <a:xfrm>
            <a:off x="7344843" y="4204688"/>
            <a:ext cx="4019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50">
                <a:solidFill>
                  <a:srgbClr val="B0C4B1"/>
                </a:solidFill>
                <a:latin typeface="Noto Sans KR"/>
                <a:ea typeface="Noto Sans KR"/>
                <a:cs typeface="Noto Sans KR"/>
                <a:sym typeface="Noto Sans KR"/>
              </a:rPr>
              <a:t>Security &amp; Validation: Spring Security 인증 및 데이터 유효성 검증 레이어 구축</a:t>
            </a:r>
            <a:endParaRPr/>
          </a:p>
        </p:txBody>
      </p:sp>
      <p:pic>
        <p:nvPicPr>
          <p:cNvPr descr="image.png" id="311" name="Google Shape;311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10800" y="3558295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0"/>
          <p:cNvSpPr txBox="1"/>
          <p:nvPr/>
        </p:nvSpPr>
        <p:spPr>
          <a:xfrm>
            <a:off x="7344843" y="3568623"/>
            <a:ext cx="40197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B0C4B1"/>
                </a:solidFill>
              </a:rPr>
              <a:t>JSP(View) - Controller - Service - Mapper(DB) 간의 명확한 역할 분리 </a:t>
            </a:r>
            <a:endParaRPr>
              <a:solidFill>
                <a:srgbClr val="B0C4B1"/>
              </a:solidFill>
            </a:endParaRPr>
          </a:p>
        </p:txBody>
      </p:sp>
      <p:pic>
        <p:nvPicPr>
          <p:cNvPr descr="image.png" id="313" name="Google Shape;313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10800" y="4802720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0"/>
          <p:cNvSpPr txBox="1"/>
          <p:nvPr/>
        </p:nvSpPr>
        <p:spPr>
          <a:xfrm>
            <a:off x="7344843" y="4823377"/>
            <a:ext cx="4019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B0C4B1"/>
                </a:solidFill>
                <a:latin typeface="Noto Sans KR"/>
                <a:ea typeface="Noto Sans KR"/>
                <a:cs typeface="Noto Sans KR"/>
                <a:sym typeface="Noto Sans KR"/>
              </a:rPr>
              <a:t>외장 WAS(Tomcat) 없이 Spring Boot의 내장 런타임을 활용한 독립적인 실행 및 배포 최적화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21"/>
          <p:cNvGrpSpPr/>
          <p:nvPr/>
        </p:nvGrpSpPr>
        <p:grpSpPr>
          <a:xfrm>
            <a:off x="571500" y="571500"/>
            <a:ext cx="11049000" cy="409500"/>
            <a:chOff x="571500" y="571500"/>
            <a:chExt cx="11049000" cy="409500"/>
          </a:xfrm>
        </p:grpSpPr>
        <p:pic>
          <p:nvPicPr>
            <p:cNvPr id="322" name="Google Shape;322;p21"/>
            <p:cNvPicPr preferRelativeResize="0"/>
            <p:nvPr/>
          </p:nvPicPr>
          <p:blipFill rotWithShape="1">
            <a:blip r:embed="rId4">
              <a:alphaModFix/>
            </a:blip>
            <a:srcRect b="0" l="14724" r="14724" t="0"/>
            <a:stretch/>
          </p:blipFill>
          <p:spPr>
            <a:xfrm>
              <a:off x="571500" y="595313"/>
              <a:ext cx="281700" cy="36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1"/>
            <p:cNvSpPr txBox="1"/>
            <p:nvPr/>
          </p:nvSpPr>
          <p:spPr>
            <a:xfrm>
              <a:off x="990600" y="571500"/>
              <a:ext cx="10629900" cy="40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36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Tech Stack</a:t>
              </a:r>
              <a:endParaRPr b="1" sz="2636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24" name="Google Shape;324;p21"/>
          <p:cNvGrpSpPr/>
          <p:nvPr/>
        </p:nvGrpSpPr>
        <p:grpSpPr>
          <a:xfrm>
            <a:off x="571500" y="1333500"/>
            <a:ext cx="11049000" cy="476400"/>
            <a:chOff x="571500" y="1333500"/>
            <a:chExt cx="11049000" cy="476400"/>
          </a:xfrm>
        </p:grpSpPr>
        <p:sp>
          <p:nvSpPr>
            <p:cNvPr id="325" name="Google Shape;325;p21"/>
            <p:cNvSpPr/>
            <p:nvPr/>
          </p:nvSpPr>
          <p:spPr>
            <a:xfrm>
              <a:off x="571500" y="1333500"/>
              <a:ext cx="11049000" cy="476400"/>
            </a:xfrm>
            <a:prstGeom prst="roundRect">
              <a:avLst>
                <a:gd fmla="val 20000" name="adj"/>
              </a:avLst>
            </a:prstGeom>
            <a:solidFill>
              <a:srgbClr val="2D5A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1"/>
            <p:cNvSpPr txBox="1"/>
            <p:nvPr/>
          </p:nvSpPr>
          <p:spPr>
            <a:xfrm>
              <a:off x="571500" y="1333500"/>
              <a:ext cx="1428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구분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27" name="Google Shape;327;p21"/>
            <p:cNvSpPr txBox="1"/>
            <p:nvPr/>
          </p:nvSpPr>
          <p:spPr>
            <a:xfrm>
              <a:off x="2095500" y="1333500"/>
              <a:ext cx="2190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기술 스택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28" name="Google Shape;328;p21"/>
            <p:cNvSpPr txBox="1"/>
            <p:nvPr/>
          </p:nvSpPr>
          <p:spPr>
            <a:xfrm>
              <a:off x="4381500" y="1333500"/>
              <a:ext cx="7239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핵심 역할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29" name="Google Shape;329;p21"/>
          <p:cNvGrpSpPr/>
          <p:nvPr/>
        </p:nvGrpSpPr>
        <p:grpSpPr>
          <a:xfrm>
            <a:off x="571500" y="1905000"/>
            <a:ext cx="11049000" cy="714300"/>
            <a:chOff x="571500" y="1905000"/>
            <a:chExt cx="11049000" cy="714300"/>
          </a:xfrm>
        </p:grpSpPr>
        <p:sp>
          <p:nvSpPr>
            <p:cNvPr id="330" name="Google Shape;330;p21"/>
            <p:cNvSpPr/>
            <p:nvPr/>
          </p:nvSpPr>
          <p:spPr>
            <a:xfrm>
              <a:off x="571500" y="1905000"/>
              <a:ext cx="11049000" cy="7143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619125" y="1952625"/>
              <a:ext cx="1333500" cy="619200"/>
            </a:xfrm>
            <a:prstGeom prst="roundRect">
              <a:avLst>
                <a:gd fmla="val 7692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1"/>
            <p:cNvSpPr txBox="1"/>
            <p:nvPr/>
          </p:nvSpPr>
          <p:spPr>
            <a:xfrm>
              <a:off x="619125" y="1952625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Backend</a:t>
              </a:r>
              <a:endParaRPr b="1" sz="13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33" name="Google Shape;333;p21"/>
            <p:cNvSpPr txBox="1"/>
            <p:nvPr/>
          </p:nvSpPr>
          <p:spPr>
            <a:xfrm>
              <a:off x="2095500" y="1905000"/>
              <a:ext cx="2190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Java 21, Spring Boot 4.0.6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34" name="Google Shape;334;p21"/>
            <p:cNvSpPr txBox="1"/>
            <p:nvPr/>
          </p:nvSpPr>
          <p:spPr>
            <a:xfrm>
              <a:off x="4381500" y="1905000"/>
              <a:ext cx="7143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비즈니스 로직 제어 : 최신 자바 환경 기반 계층형 아키텍처(Layered) 및 내장 톰캣 실행 환경 구축</a:t>
              </a:r>
              <a:endParaRPr b="0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35" name="Google Shape;335;p21"/>
          <p:cNvGrpSpPr/>
          <p:nvPr/>
        </p:nvGrpSpPr>
        <p:grpSpPr>
          <a:xfrm>
            <a:off x="571500" y="2714625"/>
            <a:ext cx="11049000" cy="714300"/>
            <a:chOff x="571500" y="2714625"/>
            <a:chExt cx="11049000" cy="714300"/>
          </a:xfrm>
        </p:grpSpPr>
        <p:sp>
          <p:nvSpPr>
            <p:cNvPr id="336" name="Google Shape;336;p21"/>
            <p:cNvSpPr/>
            <p:nvPr/>
          </p:nvSpPr>
          <p:spPr>
            <a:xfrm>
              <a:off x="571500" y="2714625"/>
              <a:ext cx="11049000" cy="7143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619125" y="2762250"/>
              <a:ext cx="1333500" cy="619200"/>
            </a:xfrm>
            <a:prstGeom prst="roundRect">
              <a:avLst>
                <a:gd fmla="val 7692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1"/>
            <p:cNvSpPr txBox="1"/>
            <p:nvPr/>
          </p:nvSpPr>
          <p:spPr>
            <a:xfrm>
              <a:off x="619125" y="2762250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Persistence</a:t>
              </a:r>
              <a:endParaRPr b="1" sz="13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39" name="Google Shape;339;p21"/>
            <p:cNvSpPr txBox="1"/>
            <p:nvPr/>
          </p:nvSpPr>
          <p:spPr>
            <a:xfrm>
              <a:off x="2095500" y="2714625"/>
              <a:ext cx="2190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MyBatis 4.0.1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40" name="Google Shape;340;p21"/>
            <p:cNvSpPr txBox="1"/>
            <p:nvPr/>
          </p:nvSpPr>
          <p:spPr>
            <a:xfrm>
              <a:off x="4381500" y="2714625"/>
              <a:ext cx="7143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SQL 매퍼 분리 : 데이터 액세스 계층을 독립시키고 XML 기반 동적 쿼리를 활용해 데이터 처리 최적화</a:t>
              </a:r>
              <a:endParaRPr b="0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41" name="Google Shape;341;p21"/>
          <p:cNvGrpSpPr/>
          <p:nvPr/>
        </p:nvGrpSpPr>
        <p:grpSpPr>
          <a:xfrm>
            <a:off x="571500" y="3524250"/>
            <a:ext cx="11049000" cy="714300"/>
            <a:chOff x="571500" y="3524250"/>
            <a:chExt cx="11049000" cy="714300"/>
          </a:xfrm>
        </p:grpSpPr>
        <p:sp>
          <p:nvSpPr>
            <p:cNvPr id="342" name="Google Shape;342;p21"/>
            <p:cNvSpPr/>
            <p:nvPr/>
          </p:nvSpPr>
          <p:spPr>
            <a:xfrm>
              <a:off x="571500" y="3524250"/>
              <a:ext cx="11049000" cy="7143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619125" y="3571875"/>
              <a:ext cx="1333500" cy="619200"/>
            </a:xfrm>
            <a:prstGeom prst="roundRect">
              <a:avLst>
                <a:gd fmla="val 7692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1"/>
            <p:cNvSpPr txBox="1"/>
            <p:nvPr/>
          </p:nvSpPr>
          <p:spPr>
            <a:xfrm>
              <a:off x="619125" y="3571875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Security</a:t>
              </a:r>
              <a:endParaRPr b="1" sz="13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45" name="Google Shape;345;p21"/>
            <p:cNvSpPr txBox="1"/>
            <p:nvPr/>
          </p:nvSpPr>
          <p:spPr>
            <a:xfrm>
              <a:off x="2095500" y="3524250"/>
              <a:ext cx="2190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Spring Security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46" name="Google Shape;346;p21"/>
            <p:cNvSpPr txBox="1"/>
            <p:nvPr/>
          </p:nvSpPr>
          <p:spPr>
            <a:xfrm>
              <a:off x="4381500" y="3524250"/>
              <a:ext cx="7143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인증 및 인가 : 세션 기반 인증 및 사용자/관리자 권한 제어로 대출 및 중고 거래 시스템 보안 확보</a:t>
              </a:r>
              <a:endParaRPr b="0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47" name="Google Shape;347;p21"/>
          <p:cNvGrpSpPr/>
          <p:nvPr/>
        </p:nvGrpSpPr>
        <p:grpSpPr>
          <a:xfrm>
            <a:off x="571500" y="4333875"/>
            <a:ext cx="11049000" cy="714300"/>
            <a:chOff x="571500" y="4333875"/>
            <a:chExt cx="11049000" cy="714300"/>
          </a:xfrm>
        </p:grpSpPr>
        <p:sp>
          <p:nvSpPr>
            <p:cNvPr id="348" name="Google Shape;348;p21"/>
            <p:cNvSpPr/>
            <p:nvPr/>
          </p:nvSpPr>
          <p:spPr>
            <a:xfrm>
              <a:off x="571500" y="4333875"/>
              <a:ext cx="11049000" cy="7143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1"/>
            <p:cNvSpPr/>
            <p:nvPr/>
          </p:nvSpPr>
          <p:spPr>
            <a:xfrm>
              <a:off x="619125" y="4381500"/>
              <a:ext cx="1333500" cy="619200"/>
            </a:xfrm>
            <a:prstGeom prst="roundRect">
              <a:avLst>
                <a:gd fmla="val 7692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1"/>
            <p:cNvSpPr txBox="1"/>
            <p:nvPr/>
          </p:nvSpPr>
          <p:spPr>
            <a:xfrm>
              <a:off x="619125" y="4381500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Frontend</a:t>
              </a:r>
              <a:endParaRPr b="1" sz="13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51" name="Google Shape;351;p21"/>
            <p:cNvSpPr txBox="1"/>
            <p:nvPr/>
          </p:nvSpPr>
          <p:spPr>
            <a:xfrm>
              <a:off x="2095500" y="4333875"/>
              <a:ext cx="2190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JSP, Bootstrap 4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52" name="Google Shape;352;p21"/>
            <p:cNvSpPr txBox="1"/>
            <p:nvPr/>
          </p:nvSpPr>
          <p:spPr>
            <a:xfrm>
              <a:off x="4381500" y="4333875"/>
              <a:ext cx="7143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서버 사이드 렌더링 : JSP 화면 제어 및 북카페(FOREST) 콘셉트 UI 구현</a:t>
              </a:r>
              <a:endParaRPr b="0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53" name="Google Shape;353;p21"/>
          <p:cNvGrpSpPr/>
          <p:nvPr/>
        </p:nvGrpSpPr>
        <p:grpSpPr>
          <a:xfrm>
            <a:off x="571500" y="5143500"/>
            <a:ext cx="11049000" cy="714300"/>
            <a:chOff x="571500" y="5143500"/>
            <a:chExt cx="11049000" cy="714300"/>
          </a:xfrm>
        </p:grpSpPr>
        <p:sp>
          <p:nvSpPr>
            <p:cNvPr id="354" name="Google Shape;354;p21"/>
            <p:cNvSpPr/>
            <p:nvPr/>
          </p:nvSpPr>
          <p:spPr>
            <a:xfrm>
              <a:off x="571500" y="5143500"/>
              <a:ext cx="11049000" cy="7143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1"/>
            <p:cNvSpPr/>
            <p:nvPr/>
          </p:nvSpPr>
          <p:spPr>
            <a:xfrm>
              <a:off x="619125" y="5191125"/>
              <a:ext cx="1333500" cy="619200"/>
            </a:xfrm>
            <a:prstGeom prst="roundRect">
              <a:avLst>
                <a:gd fmla="val 7692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1"/>
            <p:cNvSpPr txBox="1"/>
            <p:nvPr/>
          </p:nvSpPr>
          <p:spPr>
            <a:xfrm>
              <a:off x="619125" y="5191125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Database</a:t>
              </a:r>
              <a:endParaRPr b="1" sz="13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57" name="Google Shape;357;p21"/>
            <p:cNvSpPr txBox="1"/>
            <p:nvPr/>
          </p:nvSpPr>
          <p:spPr>
            <a:xfrm>
              <a:off x="2095500" y="5143500"/>
              <a:ext cx="2190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Supabase (PostgreSQL)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58" name="Google Shape;358;p21"/>
            <p:cNvSpPr txBox="1"/>
            <p:nvPr/>
          </p:nvSpPr>
          <p:spPr>
            <a:xfrm>
              <a:off x="4381500" y="5143500"/>
              <a:ext cx="7143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무결성(Integrity) 확보 : PostgreSQL의 강력한 트랜잭션 처리 기능과 Spring Boot의 Validation 라이브러리를 결합해 도서 대출 및 중고 거래 시 데이터 오류 원천 차단</a:t>
              </a:r>
              <a:endParaRPr b="0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59" name="Google Shape;359;p21"/>
          <p:cNvGrpSpPr/>
          <p:nvPr/>
        </p:nvGrpSpPr>
        <p:grpSpPr>
          <a:xfrm>
            <a:off x="571500" y="5953125"/>
            <a:ext cx="11049000" cy="714300"/>
            <a:chOff x="571500" y="5953125"/>
            <a:chExt cx="11049000" cy="714300"/>
          </a:xfrm>
        </p:grpSpPr>
        <p:sp>
          <p:nvSpPr>
            <p:cNvPr id="360" name="Google Shape;360;p21"/>
            <p:cNvSpPr/>
            <p:nvPr/>
          </p:nvSpPr>
          <p:spPr>
            <a:xfrm>
              <a:off x="571500" y="5953125"/>
              <a:ext cx="11049000" cy="7143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619125" y="6000750"/>
              <a:ext cx="1333500" cy="619200"/>
            </a:xfrm>
            <a:prstGeom prst="roundRect">
              <a:avLst>
                <a:gd fmla="val 7692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1"/>
            <p:cNvSpPr txBox="1"/>
            <p:nvPr/>
          </p:nvSpPr>
          <p:spPr>
            <a:xfrm>
              <a:off x="619125" y="6000750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D5A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Development</a:t>
              </a:r>
              <a:endParaRPr b="1" sz="13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63" name="Google Shape;363;p21"/>
            <p:cNvSpPr txBox="1"/>
            <p:nvPr/>
          </p:nvSpPr>
          <p:spPr>
            <a:xfrm>
              <a:off x="2095500" y="5953125"/>
              <a:ext cx="2190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Lombok</a:t>
              </a:r>
              <a:endParaRPr b="0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64" name="Google Shape;364;p21"/>
            <p:cNvSpPr txBox="1"/>
            <p:nvPr/>
          </p:nvSpPr>
          <p:spPr>
            <a:xfrm>
              <a:off x="4381500" y="5953125"/>
              <a:ext cx="7143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개발 생산성 향상 : 어노테이션 기반 모델 설계로 가독성을 높이고 반복적인 가짜 코드 제거</a:t>
              </a:r>
              <a:endParaRPr b="0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9" name="Google Shape;3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2"/>
          <p:cNvSpPr txBox="1"/>
          <p:nvPr/>
        </p:nvSpPr>
        <p:spPr>
          <a:xfrm>
            <a:off x="295275" y="393192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03. 데이터 모델링 (DB 설계)</a:t>
            </a:r>
            <a:endParaRPr/>
          </a:p>
        </p:txBody>
      </p:sp>
      <p:sp>
        <p:nvSpPr>
          <p:cNvPr id="371" name="Google Shape;371;p22"/>
          <p:cNvSpPr/>
          <p:nvPr/>
        </p:nvSpPr>
        <p:spPr>
          <a:xfrm>
            <a:off x="5524500" y="1490472"/>
            <a:ext cx="1143000" cy="573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22"/>
          <p:cNvPicPr preferRelativeResize="0"/>
          <p:nvPr/>
        </p:nvPicPr>
        <p:blipFill rotWithShape="1">
          <a:blip r:embed="rId4">
            <a:alphaModFix/>
          </a:blip>
          <a:srcRect b="0" l="3017" r="4442" t="15211"/>
          <a:stretch/>
        </p:blipFill>
        <p:spPr>
          <a:xfrm>
            <a:off x="454650" y="1819656"/>
            <a:ext cx="11282700" cy="481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7" name="Google Shape;3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38275"/>
            <a:ext cx="5286375" cy="26610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33412"/>
            <a:ext cx="281582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3"/>
          <p:cNvSpPr txBox="1"/>
          <p:nvPr/>
        </p:nvSpPr>
        <p:spPr>
          <a:xfrm>
            <a:off x="695325" y="2837259"/>
            <a:ext cx="6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3"/>
          <p:cNvSpPr txBox="1"/>
          <p:nvPr/>
        </p:nvSpPr>
        <p:spPr>
          <a:xfrm>
            <a:off x="995957" y="571500"/>
            <a:ext cx="11155769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모델링 (ERD)</a:t>
            </a:r>
            <a:endParaRPr/>
          </a:p>
        </p:txBody>
      </p:sp>
      <p:pic>
        <p:nvPicPr>
          <p:cNvPr descr="image.png" id="382" name="Google Shape;38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33147"/>
            <a:ext cx="11049000" cy="132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3"/>
          <p:cNvSpPr txBox="1"/>
          <p:nvPr/>
        </p:nvSpPr>
        <p:spPr>
          <a:xfrm>
            <a:off x="866775" y="1333172"/>
            <a:ext cx="1098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개요 및 설계 검증</a:t>
            </a:r>
            <a:endParaRPr/>
          </a:p>
        </p:txBody>
      </p:sp>
      <p:sp>
        <p:nvSpPr>
          <p:cNvPr id="384" name="Google Shape;384;p23"/>
          <p:cNvSpPr txBox="1"/>
          <p:nvPr/>
        </p:nvSpPr>
        <p:spPr>
          <a:xfrm>
            <a:off x="866775" y="1714172"/>
            <a:ext cx="10458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데이터의 이상 현상(Anomalies)을 방지하고 중복을 최소화하기 위해 테이블을 역할별로 철저히 정규화하였습니다. 외래키(FK) 제약 조건을 엄격히 적용하여 사용자의 서비스 활동 이력과 매물 정보가 완전히 동기화되며 무결성이 손상되지 않도록 보장합니다.</a:t>
            </a:r>
            <a:endParaRPr/>
          </a:p>
        </p:txBody>
      </p:sp>
      <p:pic>
        <p:nvPicPr>
          <p:cNvPr descr="image.png" id="385" name="Google Shape;38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582660"/>
            <a:ext cx="3524250" cy="4159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3875" y="2582660"/>
            <a:ext cx="3524250" cy="4159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0" y="2582660"/>
            <a:ext cx="3524250" cy="4159448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3"/>
          <p:cNvSpPr txBox="1"/>
          <p:nvPr/>
        </p:nvSpPr>
        <p:spPr>
          <a:xfrm>
            <a:off x="1100732" y="3320355"/>
            <a:ext cx="2844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회원 및 보안 데이터 분리</a:t>
            </a:r>
            <a:endParaRPr/>
          </a:p>
        </p:txBody>
      </p:sp>
      <p:pic>
        <p:nvPicPr>
          <p:cNvPr descr="image.png" id="389" name="Google Shape;38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3367980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3"/>
          <p:cNvSpPr txBox="1"/>
          <p:nvPr/>
        </p:nvSpPr>
        <p:spPr>
          <a:xfrm>
            <a:off x="1066800" y="3796605"/>
            <a:ext cx="27432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4B5563"/>
                </a:solidFill>
              </a:rPr>
              <a:t>회원 테이블(</a:t>
            </a:r>
            <a:r>
              <a:rPr b="1" lang="en-US" sz="1050">
                <a:solidFill>
                  <a:srgbClr val="2D5A27"/>
                </a:solidFill>
                <a:highlight>
                  <a:srgbClr val="ECEFEE"/>
                </a:highlight>
              </a:rPr>
              <a:t>TB_MEMBER</a:t>
            </a:r>
            <a:r>
              <a:rPr lang="en-US" sz="1300">
                <a:solidFill>
                  <a:srgbClr val="4B5563"/>
                </a:solidFill>
              </a:rPr>
              <a:t>) </a:t>
            </a:r>
            <a:r>
              <a:rPr b="1" lang="en-US" sz="1050">
                <a:solidFill>
                  <a:srgbClr val="2D5A27"/>
                </a:solidFill>
                <a:highlight>
                  <a:srgbClr val="ECEFEE"/>
                </a:highlight>
              </a:rPr>
              <a:t>USERNAME</a:t>
            </a:r>
            <a:r>
              <a:rPr lang="en-US" sz="1300">
                <a:solidFill>
                  <a:srgbClr val="4B5563"/>
                </a:solidFill>
              </a:rPr>
              <a:t>을 기본 키로 두고 가입 기본 정보와 Spring Security 필수 인증 필드 보존</a:t>
            </a:r>
            <a:endParaRPr sz="1300">
              <a:solidFill>
                <a:srgbClr val="4B5563"/>
              </a:solidFill>
            </a:endParaRPr>
          </a:p>
          <a:p>
            <a:pPr indent="-22860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Noto Sans KR"/>
              <a:buNone/>
            </a:pPr>
            <a:r>
              <a:rPr lang="en-US" sz="1300" u="sng">
                <a:solidFill>
                  <a:srgbClr val="4B5563"/>
                </a:solidFill>
              </a:rPr>
              <a:t>(회원 번호로 하였을 때 문제발생)</a:t>
            </a:r>
            <a:endParaRPr sz="1300" u="sng">
              <a:solidFill>
                <a:srgbClr val="4B5563"/>
              </a:solidFill>
            </a:endParaRPr>
          </a:p>
        </p:txBody>
      </p:sp>
      <p:pic>
        <p:nvPicPr>
          <p:cNvPr descr="image.png" id="391" name="Google Shape;391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3815655"/>
            <a:ext cx="11861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3"/>
          <p:cNvSpPr txBox="1"/>
          <p:nvPr/>
        </p:nvSpPr>
        <p:spPr>
          <a:xfrm>
            <a:off x="1076325" y="5030471"/>
            <a:ext cx="27432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4B5563"/>
                </a:solidFill>
              </a:rPr>
              <a:t>다대다(M:N) 권한 관계 해소를 위해 매핑 테이블 </a:t>
            </a:r>
            <a:r>
              <a:rPr b="1" lang="en-US" sz="1050">
                <a:solidFill>
                  <a:srgbClr val="2D5A27"/>
                </a:solidFill>
                <a:highlight>
                  <a:srgbClr val="ECEFEE"/>
                </a:highlight>
              </a:rPr>
              <a:t>TB_MEMBER_ROLE</a:t>
            </a:r>
            <a:r>
              <a:rPr lang="en-US" sz="1300">
                <a:solidFill>
                  <a:srgbClr val="4B5563"/>
                </a:solidFill>
              </a:rPr>
              <a:t>을 분리</a:t>
            </a:r>
            <a:endParaRPr sz="1050">
              <a:solidFill>
                <a:srgbClr val="2D5A27"/>
              </a:solidFill>
              <a:highlight>
                <a:srgbClr val="ECEFEE"/>
              </a:highlight>
            </a:endParaRPr>
          </a:p>
        </p:txBody>
      </p:sp>
      <p:pic>
        <p:nvPicPr>
          <p:cNvPr descr="image.png" id="393" name="Google Shape;39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5049521"/>
            <a:ext cx="11861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3"/>
          <p:cNvSpPr txBox="1"/>
          <p:nvPr/>
        </p:nvSpPr>
        <p:spPr>
          <a:xfrm>
            <a:off x="1062625" y="5655205"/>
            <a:ext cx="27432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5715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4B5563"/>
                </a:solidFill>
              </a:rPr>
              <a:t>가변 데이터인 회원 프로필 사진은 </a:t>
            </a:r>
            <a:r>
              <a:rPr b="1" lang="en-US" sz="1050">
                <a:solidFill>
                  <a:srgbClr val="2D5A27"/>
                </a:solidFill>
                <a:highlight>
                  <a:srgbClr val="ECEFEE"/>
                </a:highlight>
              </a:rPr>
              <a:t>TB_PROFILE</a:t>
            </a:r>
            <a:r>
              <a:rPr lang="en-US" sz="1300">
                <a:solidFill>
                  <a:srgbClr val="4B5563"/>
                </a:solidFill>
              </a:rPr>
              <a:t>로 격리하여 따로 관리</a:t>
            </a:r>
            <a:endParaRPr sz="1050">
              <a:solidFill>
                <a:srgbClr val="2D5A27"/>
              </a:solidFill>
              <a:highlight>
                <a:srgbClr val="ECEFEE"/>
              </a:highlight>
            </a:endParaRPr>
          </a:p>
        </p:txBody>
      </p:sp>
      <p:pic>
        <p:nvPicPr>
          <p:cNvPr descr="image.png" id="395" name="Google Shape;395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3075" y="5674255"/>
            <a:ext cx="11861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3"/>
          <p:cNvSpPr txBox="1"/>
          <p:nvPr/>
        </p:nvSpPr>
        <p:spPr>
          <a:xfrm>
            <a:off x="4819657" y="3367980"/>
            <a:ext cx="2844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SzPts val="1100"/>
              <a:buNone/>
            </a:pPr>
            <a:r>
              <a:rPr b="1" lang="en-US" sz="165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도서 메타데이터 및 순환 이력</a:t>
            </a:r>
            <a:endParaRPr b="1" sz="1650">
              <a:solidFill>
                <a:srgbClr val="2D5A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7" name="Google Shape;397;p23"/>
          <p:cNvSpPr txBox="1"/>
          <p:nvPr/>
        </p:nvSpPr>
        <p:spPr>
          <a:xfrm>
            <a:off x="4785725" y="3844225"/>
            <a:ext cx="2878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Noto Sans KR"/>
              <a:buNone/>
            </a:pPr>
            <a:r>
              <a:rPr b="1" lang="en-US" sz="1050">
                <a:solidFill>
                  <a:srgbClr val="2D5A27"/>
                </a:solidFill>
                <a:highlight>
                  <a:srgbClr val="ECEFEE"/>
                </a:highlight>
              </a:rPr>
              <a:t>TB_BOOK</a:t>
            </a:r>
            <a:r>
              <a:rPr lang="en-US" sz="1300">
                <a:solidFill>
                  <a:srgbClr val="4B5563"/>
                </a:solidFill>
              </a:rPr>
              <a:t>에 </a:t>
            </a:r>
            <a:r>
              <a:rPr lang="en-US" sz="1300">
                <a:solidFill>
                  <a:srgbClr val="4B5563"/>
                </a:solidFill>
              </a:rPr>
              <a:t>정보(</a:t>
            </a:r>
            <a:r>
              <a:rPr b="1" lang="en-US" sz="1050">
                <a:solidFill>
                  <a:srgbClr val="2D5A27"/>
                </a:solidFill>
                <a:highlight>
                  <a:srgbClr val="ECEFEE"/>
                </a:highlight>
              </a:rPr>
              <a:t>BOOK_NUM</a:t>
            </a:r>
            <a:r>
              <a:rPr lang="en-US" sz="1300">
                <a:solidFill>
                  <a:srgbClr val="4B5563"/>
                </a:solidFill>
              </a:rPr>
              <a:t>)를 기본키로 부여 하여 </a:t>
            </a:r>
            <a:r>
              <a:rPr lang="en-US" sz="1300">
                <a:solidFill>
                  <a:srgbClr val="4B5563"/>
                </a:solidFill>
              </a:rPr>
              <a:t>중복 등록 차단</a:t>
            </a:r>
            <a:endParaRPr b="1" sz="1050">
              <a:solidFill>
                <a:srgbClr val="2D5A27"/>
              </a:solidFill>
              <a:highlight>
                <a:srgbClr val="ECEFEE"/>
              </a:highlight>
            </a:endParaRPr>
          </a:p>
        </p:txBody>
      </p:sp>
      <p:pic>
        <p:nvPicPr>
          <p:cNvPr descr="image.png" id="398" name="Google Shape;39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6175" y="3863280"/>
            <a:ext cx="11861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3"/>
          <p:cNvSpPr txBox="1"/>
          <p:nvPr/>
        </p:nvSpPr>
        <p:spPr>
          <a:xfrm>
            <a:off x="4795250" y="4448354"/>
            <a:ext cx="27432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4B5563"/>
                </a:solidFill>
              </a:rPr>
              <a:t>대출 관리 테이블 (</a:t>
            </a:r>
            <a:r>
              <a:rPr b="1" lang="en-US" sz="1050">
                <a:solidFill>
                  <a:srgbClr val="2D5A27"/>
                </a:solidFill>
                <a:highlight>
                  <a:srgbClr val="ECEFEE"/>
                </a:highlight>
              </a:rPr>
              <a:t>TB_BOOKRENT</a:t>
            </a:r>
            <a:r>
              <a:rPr lang="en-US" sz="1300">
                <a:solidFill>
                  <a:srgbClr val="4B5563"/>
                </a:solidFill>
              </a:rPr>
              <a:t>)를 분리하고 대출일, 반납예정일, 실제 반납일을 기록하여 정규화 진행(1:N)</a:t>
            </a:r>
            <a:endParaRPr sz="1300">
              <a:solidFill>
                <a:srgbClr val="4B5563"/>
              </a:solidFill>
            </a:endParaRPr>
          </a:p>
        </p:txBody>
      </p:sp>
      <p:pic>
        <p:nvPicPr>
          <p:cNvPr descr="image.png" id="400" name="Google Shape;40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85700" y="4467404"/>
            <a:ext cx="11861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3"/>
          <p:cNvSpPr txBox="1"/>
          <p:nvPr/>
        </p:nvSpPr>
        <p:spPr>
          <a:xfrm>
            <a:off x="4781550" y="5398252"/>
            <a:ext cx="27432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4B5563"/>
                </a:solidFill>
              </a:rPr>
              <a:t>사용자 관심 목록 정보 수집을 위한 (</a:t>
            </a:r>
            <a:r>
              <a:rPr b="1" lang="en-US" sz="1050">
                <a:solidFill>
                  <a:srgbClr val="2D5A27"/>
                </a:solidFill>
                <a:highlight>
                  <a:srgbClr val="ECEFEE"/>
                </a:highlight>
              </a:rPr>
              <a:t>TB_WISHLIST</a:t>
            </a:r>
            <a:r>
              <a:rPr lang="en-US" sz="1300">
                <a:solidFill>
                  <a:srgbClr val="4B5563"/>
                </a:solidFill>
              </a:rPr>
              <a:t>)및 (</a:t>
            </a:r>
            <a:r>
              <a:rPr b="1" lang="en-US" sz="1050">
                <a:solidFill>
                  <a:srgbClr val="2D5A27"/>
                </a:solidFill>
                <a:highlight>
                  <a:srgbClr val="ECEFEE"/>
                </a:highlight>
              </a:rPr>
              <a:t>TB_REVIEW</a:t>
            </a:r>
            <a:r>
              <a:rPr lang="en-US" sz="1300">
                <a:solidFill>
                  <a:srgbClr val="4B5563"/>
                </a:solidFill>
              </a:rPr>
              <a:t>) 별도 관리</a:t>
            </a:r>
            <a:endParaRPr sz="1300">
              <a:solidFill>
                <a:srgbClr val="4B5563"/>
              </a:solidFill>
            </a:endParaRPr>
          </a:p>
        </p:txBody>
      </p:sp>
      <p:pic>
        <p:nvPicPr>
          <p:cNvPr descr="image.png" id="402" name="Google Shape;40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2000" y="5417302"/>
            <a:ext cx="11861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3"/>
          <p:cNvSpPr txBox="1"/>
          <p:nvPr/>
        </p:nvSpPr>
        <p:spPr>
          <a:xfrm>
            <a:off x="8538582" y="3367980"/>
            <a:ext cx="2844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SzPts val="1100"/>
              <a:buNone/>
            </a:pPr>
            <a:r>
              <a:rPr b="1" lang="en-US" sz="165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중고 서적 및 장터 게시판 구조</a:t>
            </a:r>
            <a:endParaRPr b="1" sz="1650">
              <a:solidFill>
                <a:srgbClr val="2D5A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4" name="Google Shape;404;p23"/>
          <p:cNvSpPr txBox="1"/>
          <p:nvPr/>
        </p:nvSpPr>
        <p:spPr>
          <a:xfrm>
            <a:off x="8504650" y="3844230"/>
            <a:ext cx="27432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4B5563"/>
                </a:solidFill>
              </a:rPr>
              <a:t>거래글의 텍스트 데이터를 담는 (</a:t>
            </a:r>
            <a:r>
              <a:rPr b="1" lang="en-US" sz="1050">
                <a:solidFill>
                  <a:srgbClr val="2D5A27"/>
                </a:solidFill>
                <a:highlight>
                  <a:srgbClr val="ECEFEE"/>
                </a:highlight>
              </a:rPr>
              <a:t>TB_DEALBOARD</a:t>
            </a:r>
            <a:r>
              <a:rPr lang="en-US" sz="1300">
                <a:solidFill>
                  <a:srgbClr val="4B5563"/>
                </a:solidFill>
              </a:rPr>
              <a:t>)와 실제 판매 대상 중고 서적 정보 (</a:t>
            </a:r>
            <a:r>
              <a:rPr b="1" lang="en-US" sz="1050">
                <a:solidFill>
                  <a:srgbClr val="2D5A27"/>
                </a:solidFill>
                <a:highlight>
                  <a:srgbClr val="ECEFEE"/>
                </a:highlight>
              </a:rPr>
              <a:t>TB_OLDBOOK</a:t>
            </a:r>
            <a:r>
              <a:rPr lang="en-US" sz="1300">
                <a:solidFill>
                  <a:srgbClr val="4B5563"/>
                </a:solidFill>
              </a:rPr>
              <a:t>)분리</a:t>
            </a:r>
            <a:endParaRPr b="1" sz="1050">
              <a:solidFill>
                <a:srgbClr val="2D5A27"/>
              </a:solidFill>
              <a:highlight>
                <a:srgbClr val="ECEFEE"/>
              </a:highlight>
            </a:endParaRPr>
          </a:p>
        </p:txBody>
      </p:sp>
      <p:pic>
        <p:nvPicPr>
          <p:cNvPr descr="image.png" id="405" name="Google Shape;405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95100" y="3863280"/>
            <a:ext cx="11861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3"/>
          <p:cNvSpPr txBox="1"/>
          <p:nvPr/>
        </p:nvSpPr>
        <p:spPr>
          <a:xfrm>
            <a:off x="8514175" y="4773525"/>
            <a:ext cx="30243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4B5563"/>
                </a:solidFill>
              </a:rPr>
              <a:t>가변데이터들을 따로 관리하며 </a:t>
            </a:r>
            <a:r>
              <a:rPr lang="en-US" sz="1300">
                <a:solidFill>
                  <a:srgbClr val="4B5563"/>
                </a:solidFill>
              </a:rPr>
              <a:t>판매글과 중고 물품을 1:1 관계로 구성</a:t>
            </a:r>
            <a:endParaRPr sz="1300">
              <a:solidFill>
                <a:srgbClr val="4B5563"/>
              </a:solidFill>
            </a:endParaRPr>
          </a:p>
        </p:txBody>
      </p:sp>
      <p:pic>
        <p:nvPicPr>
          <p:cNvPr descr="image.png" id="407" name="Google Shape;407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04625" y="4792568"/>
            <a:ext cx="11861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3"/>
          <p:cNvSpPr txBox="1"/>
          <p:nvPr/>
        </p:nvSpPr>
        <p:spPr>
          <a:xfrm>
            <a:off x="8500475" y="5365025"/>
            <a:ext cx="27432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4B5563"/>
                </a:solidFill>
              </a:rPr>
              <a:t>멀티미디어 자산 관리를 위해 대용량 파일 정보는 (</a:t>
            </a:r>
            <a:r>
              <a:rPr b="1" lang="en-US" sz="1050">
                <a:solidFill>
                  <a:srgbClr val="2D5A27"/>
                </a:solidFill>
                <a:highlight>
                  <a:srgbClr val="ECEFEE"/>
                </a:highlight>
              </a:rPr>
              <a:t>TB_OLDBOOKFILE</a:t>
            </a:r>
            <a:r>
              <a:rPr lang="en-US" sz="1300">
                <a:solidFill>
                  <a:srgbClr val="4B5563"/>
                </a:solidFill>
              </a:rPr>
              <a:t>) 테이블로 분리 정의(1:1)</a:t>
            </a:r>
            <a:endParaRPr sz="1300">
              <a:solidFill>
                <a:srgbClr val="4B5563"/>
              </a:solidFill>
            </a:endParaRPr>
          </a:p>
        </p:txBody>
      </p:sp>
      <p:pic>
        <p:nvPicPr>
          <p:cNvPr descr="image.png" id="409" name="Google Shape;409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90925" y="5384075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80211" y="3402467"/>
            <a:ext cx="14823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13026" y="3422174"/>
            <a:ext cx="148232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4"/>
          <p:cNvSpPr txBox="1"/>
          <p:nvPr/>
        </p:nvSpPr>
        <p:spPr>
          <a:xfrm>
            <a:off x="295200" y="3013342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04. 주요 화면 및 기능 시연</a:t>
            </a: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5524500" y="4114800"/>
            <a:ext cx="1143000" cy="573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5"/>
          <p:cNvSpPr txBox="1"/>
          <p:nvPr/>
        </p:nvSpPr>
        <p:spPr>
          <a:xfrm>
            <a:off x="1000125" y="5715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메인 대시보드 및 네비게이션</a:t>
            </a:r>
            <a:endParaRPr b="1" sz="2850">
              <a:solidFill>
                <a:srgbClr val="2D5A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5" name="Google Shape;425;p25"/>
          <p:cNvSpPr txBox="1"/>
          <p:nvPr/>
        </p:nvSpPr>
        <p:spPr>
          <a:xfrm>
            <a:off x="6334125" y="1447800"/>
            <a:ext cx="5524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직관적인 사용자 경험</a:t>
            </a:r>
            <a:endParaRPr b="1" sz="1400">
              <a:solidFill>
                <a:srgbClr val="1F293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6" name="Google Shape;426;p25"/>
          <p:cNvSpPr txBox="1"/>
          <p:nvPr/>
        </p:nvSpPr>
        <p:spPr>
          <a:xfrm>
            <a:off x="6334125" y="1905000"/>
            <a:ext cx="52863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웹사이트의 '숲' 테마를 유지하며 사용자가 원하는 서비스를 즉각적으로 선택할 수 있는 카드형 대시보드를 구현했습니다.</a:t>
            </a:r>
            <a:endParaRPr b="0" sz="1650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427" name="Google Shape;427;p25"/>
          <p:cNvGrpSpPr/>
          <p:nvPr/>
        </p:nvGrpSpPr>
        <p:grpSpPr>
          <a:xfrm>
            <a:off x="6334125" y="3648075"/>
            <a:ext cx="5286300" cy="762000"/>
            <a:chOff x="6334125" y="3648075"/>
            <a:chExt cx="5286300" cy="762000"/>
          </a:xfrm>
        </p:grpSpPr>
        <p:sp>
          <p:nvSpPr>
            <p:cNvPr id="428" name="Google Shape;428;p25"/>
            <p:cNvSpPr/>
            <p:nvPr/>
          </p:nvSpPr>
          <p:spPr>
            <a:xfrm>
              <a:off x="6334125" y="3648075"/>
              <a:ext cx="5286300" cy="762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5"/>
            <p:cNvSpPr/>
            <p:nvPr/>
          </p:nvSpPr>
          <p:spPr>
            <a:xfrm>
              <a:off x="6610350" y="3867150"/>
              <a:ext cx="1676400" cy="362100"/>
            </a:xfrm>
            <a:prstGeom prst="roundRect">
              <a:avLst>
                <a:gd fmla="val 15789" name="adj"/>
              </a:avLst>
            </a:prstGeom>
            <a:solidFill>
              <a:srgbClr val="2A5C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5"/>
            <p:cNvSpPr txBox="1"/>
            <p:nvPr/>
          </p:nvSpPr>
          <p:spPr>
            <a:xfrm>
              <a:off x="6610350" y="3867150"/>
              <a:ext cx="16764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도서관 둘러보기 →</a:t>
              </a:r>
              <a:endParaRPr b="0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31" name="Google Shape;431;p25"/>
            <p:cNvSpPr txBox="1"/>
            <p:nvPr/>
          </p:nvSpPr>
          <p:spPr>
            <a:xfrm>
              <a:off x="8458200" y="3781425"/>
              <a:ext cx="285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비회원을 포함해 누구나 도서관에서 보유중인 도서 목록 확인</a:t>
              </a:r>
              <a:endParaRPr b="0" sz="13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32" name="Google Shape;432;p25"/>
          <p:cNvGrpSpPr/>
          <p:nvPr/>
        </p:nvGrpSpPr>
        <p:grpSpPr>
          <a:xfrm>
            <a:off x="6334125" y="4591050"/>
            <a:ext cx="5286300" cy="762000"/>
            <a:chOff x="6334125" y="4591050"/>
            <a:chExt cx="5286300" cy="762000"/>
          </a:xfrm>
        </p:grpSpPr>
        <p:sp>
          <p:nvSpPr>
            <p:cNvPr id="433" name="Google Shape;433;p25"/>
            <p:cNvSpPr/>
            <p:nvPr/>
          </p:nvSpPr>
          <p:spPr>
            <a:xfrm>
              <a:off x="6334125" y="4591050"/>
              <a:ext cx="5286300" cy="762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5"/>
            <p:cNvSpPr/>
            <p:nvPr/>
          </p:nvSpPr>
          <p:spPr>
            <a:xfrm>
              <a:off x="6610350" y="4819650"/>
              <a:ext cx="1676400" cy="362100"/>
            </a:xfrm>
            <a:prstGeom prst="roundRect">
              <a:avLst>
                <a:gd fmla="val 15789" name="adj"/>
              </a:avLst>
            </a:prstGeom>
            <a:solidFill>
              <a:srgbClr val="38A1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5"/>
            <p:cNvSpPr txBox="1"/>
            <p:nvPr/>
          </p:nvSpPr>
          <p:spPr>
            <a:xfrm>
              <a:off x="6610350" y="4819650"/>
              <a:ext cx="16764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장터 바로가기 →</a:t>
              </a:r>
              <a:endParaRPr b="0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36" name="Google Shape;436;p25"/>
            <p:cNvSpPr txBox="1"/>
            <p:nvPr/>
          </p:nvSpPr>
          <p:spPr>
            <a:xfrm>
              <a:off x="8458200" y="4733925"/>
              <a:ext cx="285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현재 판매중인 도서와 판매가 완료된 도서 목록 확인</a:t>
              </a:r>
              <a:endParaRPr b="0" sz="13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437" name="Google Shape;437;p25"/>
          <p:cNvSpPr/>
          <p:nvPr/>
        </p:nvSpPr>
        <p:spPr>
          <a:xfrm>
            <a:off x="847725" y="1447800"/>
            <a:ext cx="5067300" cy="3838500"/>
          </a:xfrm>
          <a:prstGeom prst="roundRect">
            <a:avLst>
              <a:gd fmla="val 9925" name="adj"/>
            </a:avLst>
          </a:prstGeom>
          <a:solidFill>
            <a:srgbClr val="000000">
              <a:alpha val="0"/>
            </a:srgbClr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25"/>
          <p:cNvPicPr preferRelativeResize="0"/>
          <p:nvPr/>
        </p:nvPicPr>
        <p:blipFill rotWithShape="1">
          <a:blip r:embed="rId5">
            <a:alphaModFix/>
          </a:blip>
          <a:srcRect b="70" l="0" r="0" t="60"/>
          <a:stretch/>
        </p:blipFill>
        <p:spPr>
          <a:xfrm>
            <a:off x="1028700" y="1828800"/>
            <a:ext cx="4714800" cy="3190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9" name="Google Shape;439;p25"/>
          <p:cNvGrpSpPr/>
          <p:nvPr/>
        </p:nvGrpSpPr>
        <p:grpSpPr>
          <a:xfrm>
            <a:off x="6334125" y="2705100"/>
            <a:ext cx="5286300" cy="762000"/>
            <a:chOff x="6334125" y="5792525"/>
            <a:chExt cx="5286300" cy="762000"/>
          </a:xfrm>
        </p:grpSpPr>
        <p:sp>
          <p:nvSpPr>
            <p:cNvPr id="440" name="Google Shape;440;p25"/>
            <p:cNvSpPr/>
            <p:nvPr/>
          </p:nvSpPr>
          <p:spPr>
            <a:xfrm>
              <a:off x="6334125" y="5792525"/>
              <a:ext cx="5286300" cy="762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5"/>
            <p:cNvSpPr/>
            <p:nvPr/>
          </p:nvSpPr>
          <p:spPr>
            <a:xfrm>
              <a:off x="6472200" y="6040100"/>
              <a:ext cx="190500" cy="190500"/>
            </a:xfrm>
            <a:prstGeom prst="roundRect">
              <a:avLst>
                <a:gd fmla="val 50000" name="adj"/>
              </a:avLst>
            </a:prstGeom>
            <a:solidFill>
              <a:srgbClr val="2D5A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5"/>
            <p:cNvSpPr txBox="1"/>
            <p:nvPr/>
          </p:nvSpPr>
          <p:spPr>
            <a:xfrm>
              <a:off x="6719850" y="6030575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알림 바: </a:t>
              </a:r>
              <a:r>
                <a:rPr b="0" lang="en-US" sz="1350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로그인 후 도서 대출 및 거래 상태 실시간 확인</a:t>
              </a:r>
              <a:endParaRPr b="1" sz="13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pic>
        <p:nvPicPr>
          <p:cNvPr descr="image.png" id="443" name="Google Shape;44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33412"/>
            <a:ext cx="281582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6"/>
          <p:cNvSpPr txBox="1"/>
          <p:nvPr/>
        </p:nvSpPr>
        <p:spPr>
          <a:xfrm>
            <a:off x="995363" y="571500"/>
            <a:ext cx="104775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도서 상세 및 리뷰/권한 제어</a:t>
            </a:r>
            <a:endParaRPr b="1" sz="2850">
              <a:solidFill>
                <a:srgbClr val="2D5A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450" name="Google Shape;450;p26"/>
          <p:cNvGrpSpPr/>
          <p:nvPr/>
        </p:nvGrpSpPr>
        <p:grpSpPr>
          <a:xfrm>
            <a:off x="6286500" y="1438275"/>
            <a:ext cx="5334000" cy="2486100"/>
            <a:chOff x="6286500" y="1438275"/>
            <a:chExt cx="5334000" cy="2486100"/>
          </a:xfrm>
        </p:grpSpPr>
        <p:sp>
          <p:nvSpPr>
            <p:cNvPr id="451" name="Google Shape;451;p26"/>
            <p:cNvSpPr/>
            <p:nvPr/>
          </p:nvSpPr>
          <p:spPr>
            <a:xfrm>
              <a:off x="6286500" y="1438275"/>
              <a:ext cx="5334000" cy="2486100"/>
            </a:xfrm>
            <a:prstGeom prst="roundRect">
              <a:avLst>
                <a:gd fmla="val 5747" name="adj"/>
              </a:avLst>
            </a:prstGeom>
            <a:solidFill>
              <a:srgbClr val="FFFFFF"/>
            </a:solidFill>
            <a:ln cap="flat" cmpd="sng" w="19050">
              <a:solidFill>
                <a:srgbClr val="ECEF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6"/>
            <p:cNvSpPr txBox="1"/>
            <p:nvPr/>
          </p:nvSpPr>
          <p:spPr>
            <a:xfrm>
              <a:off x="6677025" y="1828800"/>
              <a:ext cx="4572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1F293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MEMBER 권한 제어</a:t>
              </a:r>
              <a:endParaRPr b="1" sz="2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53" name="Google Shape;453;p26"/>
            <p:cNvSpPr txBox="1"/>
            <p:nvPr/>
          </p:nvSpPr>
          <p:spPr>
            <a:xfrm>
              <a:off x="6677025" y="2257425"/>
              <a:ext cx="4572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Spring Security를 사용하여 비회원의 경우 도서 목록과 상세 페이지는 확인할 수 있으나, 대출이나 찜하기는 로그인을 해야 합니다.</a:t>
              </a:r>
              <a:br>
                <a:rPr b="0" lang="en-US" sz="1350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0" lang="en-US" sz="1350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또한, 도서관에 도서 등록은 ADMIN / MANAGER 권한만 가능합니다.</a:t>
              </a:r>
              <a:endParaRPr b="0" sz="13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54" name="Google Shape;454;p26"/>
          <p:cNvGrpSpPr/>
          <p:nvPr/>
        </p:nvGrpSpPr>
        <p:grpSpPr>
          <a:xfrm>
            <a:off x="6286500" y="4152900"/>
            <a:ext cx="5334000" cy="2171700"/>
            <a:chOff x="6286500" y="4152900"/>
            <a:chExt cx="5334000" cy="2171700"/>
          </a:xfrm>
        </p:grpSpPr>
        <p:sp>
          <p:nvSpPr>
            <p:cNvPr id="455" name="Google Shape;455;p26"/>
            <p:cNvSpPr/>
            <p:nvPr/>
          </p:nvSpPr>
          <p:spPr>
            <a:xfrm>
              <a:off x="6286500" y="4152900"/>
              <a:ext cx="5334000" cy="2171700"/>
            </a:xfrm>
            <a:prstGeom prst="roundRect">
              <a:avLst>
                <a:gd fmla="val 6578" name="adj"/>
              </a:avLst>
            </a:prstGeom>
            <a:solidFill>
              <a:srgbClr val="FFFFFF"/>
            </a:solidFill>
            <a:ln cap="flat" cmpd="sng" w="19050">
              <a:solidFill>
                <a:srgbClr val="ECEF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6"/>
            <p:cNvSpPr txBox="1"/>
            <p:nvPr/>
          </p:nvSpPr>
          <p:spPr>
            <a:xfrm>
              <a:off x="6677025" y="4543425"/>
              <a:ext cx="4572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1F293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비동기 리뷰 시스템</a:t>
              </a:r>
              <a:endParaRPr b="1" sz="2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57" name="Google Shape;457;p26"/>
            <p:cNvSpPr txBox="1"/>
            <p:nvPr/>
          </p:nvSpPr>
          <p:spPr>
            <a:xfrm>
              <a:off x="6677025" y="521970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AJAX를 통해 페이지 새로고침 없이 사용자가 리뷰를 등록하고 삭제할 수 있는 동적 기능을 구현했습니다.</a:t>
              </a:r>
              <a:endParaRPr b="0" sz="13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458" name="Google Shape;458;p26"/>
          <p:cNvSpPr/>
          <p:nvPr/>
        </p:nvSpPr>
        <p:spPr>
          <a:xfrm>
            <a:off x="228600" y="1285875"/>
            <a:ext cx="5838900" cy="5191200"/>
          </a:xfrm>
          <a:prstGeom prst="roundRect">
            <a:avLst>
              <a:gd fmla="val 5137" name="adj"/>
            </a:avLst>
          </a:prstGeom>
          <a:solidFill>
            <a:srgbClr val="000000">
              <a:alpha val="0"/>
            </a:srgbClr>
          </a:solidFill>
          <a:ln cap="flat" cmpd="sng" w="28575">
            <a:solidFill>
              <a:srgbClr val="ECE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9" name="Google Shape;459;p26"/>
          <p:cNvPicPr preferRelativeResize="0"/>
          <p:nvPr/>
        </p:nvPicPr>
        <p:blipFill rotWithShape="1">
          <a:blip r:embed="rId5">
            <a:alphaModFix/>
          </a:blip>
          <a:srcRect b="0" l="0" r="10" t="0"/>
          <a:stretch/>
        </p:blipFill>
        <p:spPr>
          <a:xfrm>
            <a:off x="501967" y="1290638"/>
            <a:ext cx="5291100" cy="303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26"/>
          <p:cNvPicPr preferRelativeResize="0"/>
          <p:nvPr/>
        </p:nvPicPr>
        <p:blipFill rotWithShape="1">
          <a:blip r:embed="rId6">
            <a:alphaModFix/>
          </a:blip>
          <a:srcRect b="0" l="10" r="10" t="0"/>
          <a:stretch/>
        </p:blipFill>
        <p:spPr>
          <a:xfrm>
            <a:off x="512445" y="3679507"/>
            <a:ext cx="5291100" cy="26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26"/>
          <p:cNvPicPr preferRelativeResize="0"/>
          <p:nvPr/>
        </p:nvPicPr>
        <p:blipFill rotWithShape="1">
          <a:blip r:embed="rId7">
            <a:alphaModFix/>
          </a:blip>
          <a:srcRect b="-10503" l="-10503" r="-10503" t="-10503"/>
          <a:stretch/>
        </p:blipFill>
        <p:spPr>
          <a:xfrm>
            <a:off x="512725" y="571268"/>
            <a:ext cx="483300" cy="4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27"/>
          <p:cNvPicPr preferRelativeResize="0"/>
          <p:nvPr/>
        </p:nvPicPr>
        <p:blipFill rotWithShape="1">
          <a:blip r:embed="rId5">
            <a:alphaModFix/>
          </a:blip>
          <a:srcRect b="-10503" l="-10503" r="-10503" t="-10503"/>
          <a:stretch/>
        </p:blipFill>
        <p:spPr>
          <a:xfrm>
            <a:off x="512725" y="571268"/>
            <a:ext cx="483300" cy="4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7"/>
          <p:cNvSpPr txBox="1"/>
          <p:nvPr/>
        </p:nvSpPr>
        <p:spPr>
          <a:xfrm>
            <a:off x="995934" y="571500"/>
            <a:ext cx="11155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대출 도서 관리</a:t>
            </a:r>
            <a:endParaRPr b="1" sz="2850">
              <a:solidFill>
                <a:srgbClr val="2D5A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9" name="Google Shape;469;p27"/>
          <p:cNvSpPr/>
          <p:nvPr/>
        </p:nvSpPr>
        <p:spPr>
          <a:xfrm>
            <a:off x="484442" y="1201484"/>
            <a:ext cx="11223000" cy="2945100"/>
          </a:xfrm>
          <a:prstGeom prst="roundRect">
            <a:avLst>
              <a:gd fmla="val 5497" name="adj"/>
            </a:avLst>
          </a:prstGeom>
          <a:solidFill>
            <a:srgbClr val="FFFFFF"/>
          </a:solidFill>
          <a:ln cap="flat" cmpd="sng" w="28575">
            <a:solidFill>
              <a:srgbClr val="ECE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27"/>
          <p:cNvPicPr preferRelativeResize="0"/>
          <p:nvPr/>
        </p:nvPicPr>
        <p:blipFill rotWithShape="1">
          <a:blip r:embed="rId6">
            <a:alphaModFix/>
          </a:blip>
          <a:srcRect b="7206" l="0" r="0" t="7214"/>
          <a:stretch/>
        </p:blipFill>
        <p:spPr>
          <a:xfrm>
            <a:off x="484442" y="1201484"/>
            <a:ext cx="11223000" cy="2945100"/>
          </a:xfrm>
          <a:prstGeom prst="roundRect">
            <a:avLst>
              <a:gd fmla="val 5497" name="adj"/>
            </a:avLst>
          </a:prstGeom>
          <a:noFill/>
          <a:ln>
            <a:noFill/>
          </a:ln>
        </p:spPr>
      </p:pic>
      <p:grpSp>
        <p:nvGrpSpPr>
          <p:cNvPr id="471" name="Google Shape;471;p27"/>
          <p:cNvGrpSpPr/>
          <p:nvPr/>
        </p:nvGrpSpPr>
        <p:grpSpPr>
          <a:xfrm>
            <a:off x="463106" y="4335209"/>
            <a:ext cx="5334000" cy="2177400"/>
            <a:chOff x="463106" y="4335209"/>
            <a:chExt cx="5334000" cy="2177400"/>
          </a:xfrm>
        </p:grpSpPr>
        <p:sp>
          <p:nvSpPr>
            <p:cNvPr id="472" name="Google Shape;472;p27"/>
            <p:cNvSpPr/>
            <p:nvPr/>
          </p:nvSpPr>
          <p:spPr>
            <a:xfrm>
              <a:off x="463106" y="4335209"/>
              <a:ext cx="5334000" cy="2177400"/>
            </a:xfrm>
            <a:prstGeom prst="roundRect">
              <a:avLst>
                <a:gd fmla="val 6561" name="adj"/>
              </a:avLst>
            </a:prstGeom>
            <a:solidFill>
              <a:srgbClr val="FFFFFF"/>
            </a:solidFill>
            <a:ln cap="flat" cmpd="sng" w="19050">
              <a:solidFill>
                <a:srgbClr val="ECEF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7"/>
            <p:cNvSpPr txBox="1"/>
            <p:nvPr/>
          </p:nvSpPr>
          <p:spPr>
            <a:xfrm>
              <a:off x="853631" y="4725734"/>
              <a:ext cx="45531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1F293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SQL문을 통해 대출 도서 제한</a:t>
              </a:r>
              <a:endParaRPr b="1" sz="2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74" name="Google Shape;474;p27"/>
            <p:cNvSpPr txBox="1"/>
            <p:nvPr/>
          </p:nvSpPr>
          <p:spPr>
            <a:xfrm>
              <a:off x="853631" y="5195030"/>
              <a:ext cx="4553100" cy="8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대출 목록을 따로 관리하지 않더라도 도서 대출 시간 및 반납 시간을 기준으로 회원당 대출 도서를 최대 3개까지 빌릴 수 있도록 제한을 두었습니다.</a:t>
              </a:r>
              <a:endParaRPr b="0" sz="13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75" name="Google Shape;475;p27"/>
          <p:cNvGrpSpPr/>
          <p:nvPr/>
        </p:nvGrpSpPr>
        <p:grpSpPr>
          <a:xfrm>
            <a:off x="6286500" y="4335209"/>
            <a:ext cx="5334000" cy="2177400"/>
            <a:chOff x="6286500" y="4335209"/>
            <a:chExt cx="5334000" cy="2177400"/>
          </a:xfrm>
        </p:grpSpPr>
        <p:sp>
          <p:nvSpPr>
            <p:cNvPr id="476" name="Google Shape;476;p27"/>
            <p:cNvSpPr/>
            <p:nvPr/>
          </p:nvSpPr>
          <p:spPr>
            <a:xfrm>
              <a:off x="6286500" y="4335209"/>
              <a:ext cx="5334000" cy="2177400"/>
            </a:xfrm>
            <a:prstGeom prst="roundRect">
              <a:avLst>
                <a:gd fmla="val 6561" name="adj"/>
              </a:avLst>
            </a:prstGeom>
            <a:solidFill>
              <a:srgbClr val="FFFFFF"/>
            </a:solidFill>
            <a:ln cap="flat" cmpd="sng" w="19050">
              <a:solidFill>
                <a:srgbClr val="ECEF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7"/>
            <p:cNvSpPr txBox="1"/>
            <p:nvPr/>
          </p:nvSpPr>
          <p:spPr>
            <a:xfrm>
              <a:off x="6677025" y="4725734"/>
              <a:ext cx="45531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1F293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대출 도서 반납</a:t>
              </a:r>
              <a:endParaRPr b="1" sz="2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78" name="Google Shape;478;p27"/>
            <p:cNvSpPr txBox="1"/>
            <p:nvPr/>
          </p:nvSpPr>
          <p:spPr>
            <a:xfrm>
              <a:off x="6676930" y="5195030"/>
              <a:ext cx="4553100" cy="8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도서 반납 시 DB에서 삭제하는게 아닌 RETURN_DATE에 반납일을 UPDATE 하는 것으로 설정해 대출 이력을 남겨두어 리뷰를 입력할 수 있도록 하였습니다.</a:t>
              </a:r>
              <a:endParaRPr b="0" sz="13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8"/>
          <p:cNvSpPr txBox="1"/>
          <p:nvPr/>
        </p:nvSpPr>
        <p:spPr>
          <a:xfrm>
            <a:off x="1000125" y="571500"/>
            <a:ext cx="11153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도서 찜 목록</a:t>
            </a:r>
            <a:endParaRPr b="1" sz="2850">
              <a:solidFill>
                <a:srgbClr val="2D5A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5" name="Google Shape;485;p28"/>
          <p:cNvSpPr/>
          <p:nvPr/>
        </p:nvSpPr>
        <p:spPr>
          <a:xfrm>
            <a:off x="228600" y="1438275"/>
            <a:ext cx="5838900" cy="4667400"/>
          </a:xfrm>
          <a:prstGeom prst="roundRect">
            <a:avLst>
              <a:gd fmla="val 5102" name="adj"/>
            </a:avLst>
          </a:prstGeom>
          <a:solidFill>
            <a:srgbClr val="000000">
              <a:alpha val="0"/>
            </a:srgbClr>
          </a:solidFill>
          <a:ln cap="flat" cmpd="sng" w="28575">
            <a:solidFill>
              <a:srgbClr val="ECE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8"/>
          <p:cNvSpPr/>
          <p:nvPr/>
        </p:nvSpPr>
        <p:spPr>
          <a:xfrm>
            <a:off x="6286500" y="1438275"/>
            <a:ext cx="5334000" cy="2171700"/>
          </a:xfrm>
          <a:prstGeom prst="roundRect">
            <a:avLst>
              <a:gd fmla="val 6578" name="adj"/>
            </a:avLst>
          </a:prstGeom>
          <a:solidFill>
            <a:srgbClr val="FFFFFF"/>
          </a:solidFill>
          <a:ln cap="flat" cmpd="sng" w="19050">
            <a:solidFill>
              <a:srgbClr val="ECE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8"/>
          <p:cNvSpPr txBox="1"/>
          <p:nvPr/>
        </p:nvSpPr>
        <p:spPr>
          <a:xfrm>
            <a:off x="6677025" y="1828800"/>
            <a:ext cx="4572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찜 목록 관리</a:t>
            </a:r>
            <a:endParaRPr b="1" sz="2100">
              <a:solidFill>
                <a:srgbClr val="1F293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8" name="Google Shape;488;p28"/>
          <p:cNvSpPr txBox="1"/>
          <p:nvPr/>
        </p:nvSpPr>
        <p:spPr>
          <a:xfrm>
            <a:off x="6677025" y="2295525"/>
            <a:ext cx="4553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해당 도서의 간단한 정보와 함께 대출 상태를 확인할 수 있으며, 목록에 있는 내용 중 선택 또는 전체 삭제를 진행할 수 있습니다.</a:t>
            </a:r>
            <a:endParaRPr b="0" sz="13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8"/>
          <p:cNvSpPr/>
          <p:nvPr/>
        </p:nvSpPr>
        <p:spPr>
          <a:xfrm>
            <a:off x="6286500" y="4152900"/>
            <a:ext cx="5334000" cy="2171700"/>
          </a:xfrm>
          <a:prstGeom prst="roundRect">
            <a:avLst>
              <a:gd fmla="val 6578" name="adj"/>
            </a:avLst>
          </a:prstGeom>
          <a:solidFill>
            <a:srgbClr val="FFFFFF"/>
          </a:solidFill>
          <a:ln cap="flat" cmpd="sng" w="19050">
            <a:solidFill>
              <a:srgbClr val="ECE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8"/>
          <p:cNvSpPr txBox="1"/>
          <p:nvPr/>
        </p:nvSpPr>
        <p:spPr>
          <a:xfrm>
            <a:off x="6677025" y="4543425"/>
            <a:ext cx="4457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USERNAME / BOOK_NUM PK</a:t>
            </a:r>
            <a:endParaRPr b="1" sz="2100">
              <a:solidFill>
                <a:srgbClr val="1F293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1" name="Google Shape;491;p28"/>
          <p:cNvSpPr txBox="1"/>
          <p:nvPr/>
        </p:nvSpPr>
        <p:spPr>
          <a:xfrm>
            <a:off x="6677025" y="4953000"/>
            <a:ext cx="45531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D5A27"/>
                </a:solidFill>
                <a:latin typeface="Arial"/>
                <a:ea typeface="Arial"/>
                <a:cs typeface="Arial"/>
                <a:sym typeface="Arial"/>
              </a:rPr>
              <a:t>USERNAME / BOOK_NUM</a:t>
            </a:r>
            <a:r>
              <a:rPr b="0" lang="en-US" sz="13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의 정보를 받아 기본키로 묶어 </a:t>
            </a:r>
            <a:r>
              <a:rPr b="0" lang="en-US" sz="1300">
                <a:solidFill>
                  <a:srgbClr val="2D5A27"/>
                </a:solidFill>
                <a:latin typeface="Arial"/>
                <a:ea typeface="Arial"/>
                <a:cs typeface="Arial"/>
                <a:sym typeface="Arial"/>
              </a:rPr>
              <a:t>TB_WISHLIST</a:t>
            </a:r>
            <a:r>
              <a:rPr b="0" lang="en-US" sz="13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의 새로운 매핑 테이블을 생성해 다대다 관계를 일대다 관계로 해소하여 데이터 중복 제거 및 무결성을 지킬 수 있습니다.</a:t>
            </a:r>
            <a:endParaRPr b="0" sz="130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2" name="Google Shape;49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650" y="1646000"/>
            <a:ext cx="5761049" cy="435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8"/>
          <p:cNvPicPr preferRelativeResize="0"/>
          <p:nvPr/>
        </p:nvPicPr>
        <p:blipFill rotWithShape="1">
          <a:blip r:embed="rId5">
            <a:alphaModFix/>
          </a:blip>
          <a:srcRect b="-10503" l="-10503" r="-10503" t="-10503"/>
          <a:stretch/>
        </p:blipFill>
        <p:spPr>
          <a:xfrm>
            <a:off x="512725" y="571268"/>
            <a:ext cx="483300" cy="4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8" name="Google Shape;4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9" name="Google Shape;49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900" y="4824247"/>
            <a:ext cx="5334000" cy="16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29"/>
          <p:cNvSpPr txBox="1"/>
          <p:nvPr/>
        </p:nvSpPr>
        <p:spPr>
          <a:xfrm>
            <a:off x="666425" y="5214772"/>
            <a:ext cx="3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중고 거래 게시판</a:t>
            </a:r>
            <a:endParaRPr/>
          </a:p>
        </p:txBody>
      </p:sp>
      <p:sp>
        <p:nvSpPr>
          <p:cNvPr id="501" name="Google Shape;501;p29"/>
          <p:cNvSpPr txBox="1"/>
          <p:nvPr/>
        </p:nvSpPr>
        <p:spPr>
          <a:xfrm>
            <a:off x="666425" y="5684124"/>
            <a:ext cx="4553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B7280"/>
                </a:solidFill>
              </a:rPr>
              <a:t>현재 판매 중인 도서 정보를 확인할 수 있으며 제목 또는 저자를 검색하여 원하는 책을 찾을 수 있습니다. </a:t>
            </a:r>
            <a:endParaRPr sz="1350">
              <a:solidFill>
                <a:srgbClr val="6B7280"/>
              </a:solidFill>
            </a:endParaRPr>
          </a:p>
        </p:txBody>
      </p:sp>
      <p:sp>
        <p:nvSpPr>
          <p:cNvPr id="502" name="Google Shape;502;p29"/>
          <p:cNvSpPr txBox="1"/>
          <p:nvPr/>
        </p:nvSpPr>
        <p:spPr>
          <a:xfrm>
            <a:off x="995957" y="571500"/>
            <a:ext cx="11155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중고 거래 게시판 / 상세정보</a:t>
            </a:r>
            <a:endParaRPr/>
          </a:p>
        </p:txBody>
      </p:sp>
      <p:pic>
        <p:nvPicPr>
          <p:cNvPr id="503" name="Google Shape;50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5187" y="1010100"/>
            <a:ext cx="5223214" cy="3714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4" name="Google Shape;50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9725" y="4824247"/>
            <a:ext cx="5334000" cy="16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9"/>
          <p:cNvSpPr txBox="1"/>
          <p:nvPr/>
        </p:nvSpPr>
        <p:spPr>
          <a:xfrm>
            <a:off x="6460250" y="5214772"/>
            <a:ext cx="3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상세 정보</a:t>
            </a:r>
            <a:endParaRPr/>
          </a:p>
        </p:txBody>
      </p:sp>
      <p:sp>
        <p:nvSpPr>
          <p:cNvPr id="506" name="Google Shape;506;p29"/>
          <p:cNvSpPr txBox="1"/>
          <p:nvPr/>
        </p:nvSpPr>
        <p:spPr>
          <a:xfrm>
            <a:off x="6460250" y="5684124"/>
            <a:ext cx="4553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B7280"/>
                </a:solidFill>
              </a:rPr>
              <a:t>판매자의 경우 글의 수정 / 삭제가 가능하지만 구매자의 경우 카카오페이 결제창 또는 글 목록으로 돌아갈 수 있습니다.</a:t>
            </a:r>
            <a:endParaRPr sz="1350">
              <a:solidFill>
                <a:srgbClr val="6B7280"/>
              </a:solidFill>
            </a:endParaRPr>
          </a:p>
        </p:txBody>
      </p:sp>
      <p:pic>
        <p:nvPicPr>
          <p:cNvPr id="507" name="Google Shape;50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5900" y="1187450"/>
            <a:ext cx="5647250" cy="326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29"/>
          <p:cNvPicPr preferRelativeResize="0"/>
          <p:nvPr/>
        </p:nvPicPr>
        <p:blipFill rotWithShape="1">
          <a:blip r:embed="rId7">
            <a:alphaModFix/>
          </a:blip>
          <a:srcRect b="-10503" l="-10503" r="-10503" t="-10503"/>
          <a:stretch/>
        </p:blipFill>
        <p:spPr>
          <a:xfrm>
            <a:off x="512725" y="571268"/>
            <a:ext cx="483300" cy="4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3" name="Google Shape;51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30"/>
          <p:cNvSpPr txBox="1"/>
          <p:nvPr/>
        </p:nvSpPr>
        <p:spPr>
          <a:xfrm>
            <a:off x="995957" y="571500"/>
            <a:ext cx="11155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거래 완료(확인)</a:t>
            </a:r>
            <a:endParaRPr/>
          </a:p>
        </p:txBody>
      </p:sp>
      <p:pic>
        <p:nvPicPr>
          <p:cNvPr descr="image.png" id="515" name="Google Shape;51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9725" y="1609997"/>
            <a:ext cx="5334000" cy="16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30"/>
          <p:cNvSpPr txBox="1"/>
          <p:nvPr/>
        </p:nvSpPr>
        <p:spPr>
          <a:xfrm>
            <a:off x="6460250" y="2000522"/>
            <a:ext cx="3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결제 완료</a:t>
            </a:r>
            <a:endParaRPr/>
          </a:p>
        </p:txBody>
      </p:sp>
      <p:sp>
        <p:nvSpPr>
          <p:cNvPr id="517" name="Google Shape;517;p30"/>
          <p:cNvSpPr txBox="1"/>
          <p:nvPr/>
        </p:nvSpPr>
        <p:spPr>
          <a:xfrm>
            <a:off x="6460250" y="2469874"/>
            <a:ext cx="4553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B7280"/>
                </a:solidFill>
              </a:rPr>
              <a:t>카카오페이 결제 API 테스트 환경을 통해 게시판에 업로드한 </a:t>
            </a:r>
            <a:r>
              <a:rPr lang="en-US" sz="1350">
                <a:solidFill>
                  <a:srgbClr val="6B7280"/>
                </a:solidFill>
              </a:rPr>
              <a:t>상품의 상품명, 결제 금액을 변수로 받아 </a:t>
            </a:r>
            <a:r>
              <a:rPr lang="en-US" sz="1350">
                <a:solidFill>
                  <a:srgbClr val="6B7280"/>
                </a:solidFill>
              </a:rPr>
              <a:t>결제되는 것을 확인할 수 있습니다. </a:t>
            </a:r>
            <a:endParaRPr sz="1350">
              <a:solidFill>
                <a:srgbClr val="6B7280"/>
              </a:solidFill>
            </a:endParaRPr>
          </a:p>
        </p:txBody>
      </p:sp>
      <p:pic>
        <p:nvPicPr>
          <p:cNvPr id="518" name="Google Shape;518;p30"/>
          <p:cNvPicPr preferRelativeResize="0"/>
          <p:nvPr/>
        </p:nvPicPr>
        <p:blipFill rotWithShape="1">
          <a:blip r:embed="rId5">
            <a:alphaModFix/>
          </a:blip>
          <a:srcRect b="-10503" l="-10503" r="-10503" t="-10503"/>
          <a:stretch/>
        </p:blipFill>
        <p:spPr>
          <a:xfrm>
            <a:off x="512725" y="571268"/>
            <a:ext cx="483300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30"/>
          <p:cNvPicPr preferRelativeResize="0"/>
          <p:nvPr/>
        </p:nvPicPr>
        <p:blipFill rotWithShape="1">
          <a:blip r:embed="rId6">
            <a:alphaModFix/>
          </a:blip>
          <a:srcRect b="12542" l="0" r="0" t="38407"/>
          <a:stretch/>
        </p:blipFill>
        <p:spPr>
          <a:xfrm>
            <a:off x="996025" y="1610000"/>
            <a:ext cx="4223500" cy="4489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4" name="Google Shape;52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5" name="Google Shape;52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900" y="5096875"/>
            <a:ext cx="5334000" cy="138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1"/>
          <p:cNvSpPr txBox="1"/>
          <p:nvPr/>
        </p:nvSpPr>
        <p:spPr>
          <a:xfrm>
            <a:off x="666425" y="5214772"/>
            <a:ext cx="3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회원 가입</a:t>
            </a:r>
            <a:endParaRPr/>
          </a:p>
        </p:txBody>
      </p:sp>
      <p:sp>
        <p:nvSpPr>
          <p:cNvPr id="527" name="Google Shape;527;p31"/>
          <p:cNvSpPr txBox="1"/>
          <p:nvPr/>
        </p:nvSpPr>
        <p:spPr>
          <a:xfrm>
            <a:off x="666425" y="5684124"/>
            <a:ext cx="4553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B7280"/>
                </a:solidFill>
              </a:rPr>
              <a:t>현재 username을 기본키로 사용하고 있어 회원가입 시 아이디 중복확인을 하지 않을 경우 회원가입이 되지 않도록 했습니다. </a:t>
            </a:r>
            <a:endParaRPr sz="1350">
              <a:solidFill>
                <a:srgbClr val="6B7280"/>
              </a:solidFill>
            </a:endParaRPr>
          </a:p>
        </p:txBody>
      </p:sp>
      <p:sp>
        <p:nvSpPr>
          <p:cNvPr id="528" name="Google Shape;528;p31"/>
          <p:cNvSpPr txBox="1"/>
          <p:nvPr/>
        </p:nvSpPr>
        <p:spPr>
          <a:xfrm>
            <a:off x="995957" y="571500"/>
            <a:ext cx="11155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회원가입 / 마이페이지</a:t>
            </a:r>
            <a:endParaRPr/>
          </a:p>
        </p:txBody>
      </p:sp>
      <p:pic>
        <p:nvPicPr>
          <p:cNvPr descr="image.png" id="529" name="Google Shape;52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9725" y="5096874"/>
            <a:ext cx="5334000" cy="138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1"/>
          <p:cNvSpPr txBox="1"/>
          <p:nvPr/>
        </p:nvSpPr>
        <p:spPr>
          <a:xfrm>
            <a:off x="6460250" y="5214772"/>
            <a:ext cx="3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마이페이지</a:t>
            </a:r>
            <a:endParaRPr/>
          </a:p>
        </p:txBody>
      </p:sp>
      <p:sp>
        <p:nvSpPr>
          <p:cNvPr id="531" name="Google Shape;531;p31"/>
          <p:cNvSpPr txBox="1"/>
          <p:nvPr/>
        </p:nvSpPr>
        <p:spPr>
          <a:xfrm>
            <a:off x="6460250" y="5684124"/>
            <a:ext cx="4553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B7280"/>
                </a:solidFill>
              </a:rPr>
              <a:t>회원의 정보 수정과 로그아웃, 탈퇴를 진행할 수 있습니다. 다만, 아이디의 경우 기본키로 사용하고 있어 수정할 수 없습니다.</a:t>
            </a:r>
            <a:endParaRPr sz="1350">
              <a:solidFill>
                <a:srgbClr val="6B7280"/>
              </a:solidFill>
            </a:endParaRPr>
          </a:p>
        </p:txBody>
      </p:sp>
      <p:pic>
        <p:nvPicPr>
          <p:cNvPr id="532" name="Google Shape;532;p31"/>
          <p:cNvPicPr preferRelativeResize="0"/>
          <p:nvPr/>
        </p:nvPicPr>
        <p:blipFill rotWithShape="1">
          <a:blip r:embed="rId5">
            <a:alphaModFix/>
          </a:blip>
          <a:srcRect b="0" l="0" r="0" t="10913"/>
          <a:stretch/>
        </p:blipFill>
        <p:spPr>
          <a:xfrm>
            <a:off x="596875" y="1099275"/>
            <a:ext cx="4692025" cy="3875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49325" y="1099275"/>
            <a:ext cx="6263500" cy="387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1"/>
          <p:cNvPicPr preferRelativeResize="0"/>
          <p:nvPr/>
        </p:nvPicPr>
        <p:blipFill rotWithShape="1">
          <a:blip r:embed="rId7">
            <a:alphaModFix/>
          </a:blip>
          <a:srcRect b="-10503" l="-10503" r="-10503" t="-10503"/>
          <a:stretch/>
        </p:blipFill>
        <p:spPr>
          <a:xfrm>
            <a:off x="512725" y="571268"/>
            <a:ext cx="483300" cy="4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9" name="Google Shape;53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2"/>
          <p:cNvSpPr txBox="1"/>
          <p:nvPr/>
        </p:nvSpPr>
        <p:spPr>
          <a:xfrm>
            <a:off x="295275" y="3013342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05. 핵심 소스 코드 및 로직</a:t>
            </a:r>
            <a:endParaRPr/>
          </a:p>
        </p:txBody>
      </p:sp>
      <p:sp>
        <p:nvSpPr>
          <p:cNvPr id="541" name="Google Shape;541;p32"/>
          <p:cNvSpPr/>
          <p:nvPr/>
        </p:nvSpPr>
        <p:spPr>
          <a:xfrm>
            <a:off x="5524500" y="4114800"/>
            <a:ext cx="1143000" cy="573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3"/>
          <p:cNvSpPr txBox="1"/>
          <p:nvPr/>
        </p:nvSpPr>
        <p:spPr>
          <a:xfrm>
            <a:off x="1000125" y="523875"/>
            <a:ext cx="9525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6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Spring SecurityFilter 사용</a:t>
            </a:r>
            <a:endParaRPr b="1" sz="2960">
              <a:solidFill>
                <a:srgbClr val="2D5A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7" name="Google Shape;547;p33"/>
          <p:cNvSpPr/>
          <p:nvPr/>
        </p:nvSpPr>
        <p:spPr>
          <a:xfrm>
            <a:off x="571500" y="1238250"/>
            <a:ext cx="11049000" cy="5715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3"/>
          <p:cNvSpPr txBox="1"/>
          <p:nvPr/>
        </p:nvSpPr>
        <p:spPr>
          <a:xfrm>
            <a:off x="809625" y="1333500"/>
            <a:ext cx="10572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 성공 후 사용자의 Role에 따라 진입 가능한 페이지를 구별한 핵심 로직입니다.</a:t>
            </a:r>
            <a:endParaRPr b="0" sz="1600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9" name="Google Shape;549;p33"/>
          <p:cNvSpPr/>
          <p:nvPr/>
        </p:nvSpPr>
        <p:spPr>
          <a:xfrm>
            <a:off x="571500" y="2047875"/>
            <a:ext cx="11049000" cy="4238700"/>
          </a:xfrm>
          <a:prstGeom prst="roundRect">
            <a:avLst>
              <a:gd fmla="val 2696" name="adj"/>
            </a:avLst>
          </a:prstGeom>
          <a:solidFill>
            <a:srgbClr val="1E1F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550" name="Google Shape;55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3412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050" y="2247075"/>
            <a:ext cx="10726951" cy="384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4"/>
          <p:cNvSpPr txBox="1"/>
          <p:nvPr/>
        </p:nvSpPr>
        <p:spPr>
          <a:xfrm>
            <a:off x="1000125" y="523875"/>
            <a:ext cx="9525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연령대별 선호 도서 추출</a:t>
            </a:r>
            <a:endParaRPr b="1" sz="2960">
              <a:solidFill>
                <a:srgbClr val="2D5A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7" name="Google Shape;557;p34"/>
          <p:cNvSpPr/>
          <p:nvPr/>
        </p:nvSpPr>
        <p:spPr>
          <a:xfrm>
            <a:off x="571500" y="1238250"/>
            <a:ext cx="11049000" cy="5715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4"/>
          <p:cNvSpPr txBox="1"/>
          <p:nvPr/>
        </p:nvSpPr>
        <p:spPr>
          <a:xfrm>
            <a:off x="809625" y="1333500"/>
            <a:ext cx="10572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사용자의 생년월일을 분석하여 현재 연령대를 계산하고, 해당 그룹이 가장 많이 대여한 도서 TOP 3를 실시간으로 추출하는 MyBatis 핵심 로직입니다.</a:t>
            </a:r>
            <a:endParaRPr sz="1600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9" name="Google Shape;559;p34"/>
          <p:cNvSpPr/>
          <p:nvPr/>
        </p:nvSpPr>
        <p:spPr>
          <a:xfrm>
            <a:off x="571500" y="2047875"/>
            <a:ext cx="11049000" cy="4238700"/>
          </a:xfrm>
          <a:prstGeom prst="roundRect">
            <a:avLst>
              <a:gd fmla="val 2696" name="adj"/>
            </a:avLst>
          </a:prstGeom>
          <a:solidFill>
            <a:srgbClr val="1E1F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560" name="Google Shape;56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3412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34" title="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625" y="2375900"/>
            <a:ext cx="8939876" cy="37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5"/>
          <p:cNvSpPr txBox="1"/>
          <p:nvPr/>
        </p:nvSpPr>
        <p:spPr>
          <a:xfrm>
            <a:off x="1000125" y="523875"/>
            <a:ext cx="9525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리뷰 작성 위해 대출 이력 남기기</a:t>
            </a:r>
            <a:endParaRPr b="1" sz="2960">
              <a:solidFill>
                <a:srgbClr val="2D5A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7" name="Google Shape;567;p35"/>
          <p:cNvSpPr/>
          <p:nvPr/>
        </p:nvSpPr>
        <p:spPr>
          <a:xfrm>
            <a:off x="571500" y="1238250"/>
            <a:ext cx="11049000" cy="5715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5"/>
          <p:cNvSpPr txBox="1"/>
          <p:nvPr/>
        </p:nvSpPr>
        <p:spPr>
          <a:xfrm>
            <a:off x="809625" y="1333500"/>
            <a:ext cx="10572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리뷰 작성을 하기 위해서는 해당 도서의 대출 이력이 있어야 하므로 반납 시 DB에서 해당 회원의 대출 이력을 지우는 대신 반납일 컬럼에 반납시간을 update하도록 하여 대출 이력을 남겨둡니다.</a:t>
            </a:r>
            <a:endParaRPr b="0" sz="1600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9" name="Google Shape;569;p35"/>
          <p:cNvSpPr/>
          <p:nvPr/>
        </p:nvSpPr>
        <p:spPr>
          <a:xfrm>
            <a:off x="571500" y="2047875"/>
            <a:ext cx="11049000" cy="4238700"/>
          </a:xfrm>
          <a:prstGeom prst="roundRect">
            <a:avLst>
              <a:gd fmla="val 2696" name="adj"/>
            </a:avLst>
          </a:prstGeom>
          <a:solidFill>
            <a:srgbClr val="1E1F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570" name="Google Shape;57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3412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5" title="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626" y="2247075"/>
            <a:ext cx="8821191" cy="384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6"/>
          <p:cNvSpPr txBox="1"/>
          <p:nvPr/>
        </p:nvSpPr>
        <p:spPr>
          <a:xfrm>
            <a:off x="1000125" y="523875"/>
            <a:ext cx="9525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도서 가격 음수 보안처리 (백엔드/프론트엔드)</a:t>
            </a:r>
            <a:endParaRPr b="1" sz="2960">
              <a:solidFill>
                <a:srgbClr val="2D5A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7" name="Google Shape;577;p36"/>
          <p:cNvSpPr/>
          <p:nvPr/>
        </p:nvSpPr>
        <p:spPr>
          <a:xfrm>
            <a:off x="571500" y="1238250"/>
            <a:ext cx="11049000" cy="10719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6"/>
          <p:cNvSpPr txBox="1"/>
          <p:nvPr/>
        </p:nvSpPr>
        <p:spPr>
          <a:xfrm>
            <a:off x="809625" y="1333500"/>
            <a:ext cx="105729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B7280"/>
                </a:solidFill>
                <a:latin typeface="Noto Sans JP"/>
                <a:ea typeface="Noto Sans JP"/>
                <a:cs typeface="Noto Sans JP"/>
                <a:sym typeface="Noto Sans JP"/>
              </a:rPr>
              <a:t>프론트엔드(JSP) 단에서 min="0" 속성을 부여해 음수 입력을 일차적으로 차단했습니다. 이에 더해, 백엔드(Controller)에서도 유효성 검증 로직을 추가 했습니다. 이를 통해 시스템의 데이터 무결성을 보장하는 2중 보안 체계를 구축했습니다. </a:t>
            </a:r>
            <a:endParaRPr sz="1600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9" name="Google Shape;579;p36"/>
          <p:cNvSpPr/>
          <p:nvPr/>
        </p:nvSpPr>
        <p:spPr>
          <a:xfrm>
            <a:off x="571500" y="2462256"/>
            <a:ext cx="11049000" cy="4238700"/>
          </a:xfrm>
          <a:prstGeom prst="roundRect">
            <a:avLst>
              <a:gd fmla="val 2696" name="adj"/>
            </a:avLst>
          </a:prstGeom>
          <a:solidFill>
            <a:srgbClr val="1E1F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580" name="Google Shape;58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3412"/>
            <a:ext cx="365760" cy="365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1" name="Google Shape;581;p36"/>
          <p:cNvGrpSpPr/>
          <p:nvPr/>
        </p:nvGrpSpPr>
        <p:grpSpPr>
          <a:xfrm>
            <a:off x="809639" y="2685537"/>
            <a:ext cx="7208773" cy="3894276"/>
            <a:chOff x="783299" y="2813648"/>
            <a:chExt cx="7019937" cy="3792264"/>
          </a:xfrm>
        </p:grpSpPr>
        <p:pic>
          <p:nvPicPr>
            <p:cNvPr id="582" name="Google Shape;582;p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83311" y="4253237"/>
              <a:ext cx="7019924" cy="2352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3" name="Google Shape;583;p3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83299" y="2813648"/>
              <a:ext cx="7019925" cy="1447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8" name="Google Shape;58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7"/>
          <p:cNvSpPr txBox="1"/>
          <p:nvPr/>
        </p:nvSpPr>
        <p:spPr>
          <a:xfrm>
            <a:off x="554200" y="3013342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r>
              <a:rPr b="1" lang="en-US" sz="54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r>
              <a:rPr b="1" i="0" lang="en-US" sz="5400" u="none" cap="none" strike="noStrike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b="1" lang="en-US" sz="5400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TroubleShooting</a:t>
            </a:r>
            <a:endParaRPr/>
          </a:p>
        </p:txBody>
      </p:sp>
      <p:sp>
        <p:nvSpPr>
          <p:cNvPr id="590" name="Google Shape;590;p37"/>
          <p:cNvSpPr/>
          <p:nvPr/>
        </p:nvSpPr>
        <p:spPr>
          <a:xfrm>
            <a:off x="5783500" y="4114800"/>
            <a:ext cx="1143000" cy="573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8"/>
          <p:cNvSpPr/>
          <p:nvPr/>
        </p:nvSpPr>
        <p:spPr>
          <a:xfrm>
            <a:off x="381000" y="428625"/>
            <a:ext cx="76200" cy="4764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8"/>
          <p:cNvSpPr txBox="1"/>
          <p:nvPr/>
        </p:nvSpPr>
        <p:spPr>
          <a:xfrm>
            <a:off x="619125" y="428625"/>
            <a:ext cx="10953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Issue 01: </a:t>
            </a:r>
            <a:r>
              <a:rPr b="1" lang="en-US" sz="222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Spring Security 환경에서 세션 기반 알림 데이터의 동기화 문제 해결</a:t>
            </a:r>
            <a:endParaRPr b="1" sz="259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8"/>
          <p:cNvSpPr/>
          <p:nvPr/>
        </p:nvSpPr>
        <p:spPr>
          <a:xfrm>
            <a:off x="571500" y="1143000"/>
            <a:ext cx="11049000" cy="1428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8"/>
          <p:cNvSpPr txBox="1"/>
          <p:nvPr/>
        </p:nvSpPr>
        <p:spPr>
          <a:xfrm>
            <a:off x="809625" y="1285875"/>
            <a:ext cx="10572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D5A27"/>
                </a:solidFill>
                <a:latin typeface="Arial"/>
                <a:ea typeface="Arial"/>
                <a:cs typeface="Arial"/>
                <a:sym typeface="Arial"/>
              </a:rPr>
              <a:t>1. 상황</a:t>
            </a:r>
            <a:endParaRPr b="1" sz="1400">
              <a:solidFill>
                <a:srgbClr val="2D5A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상황: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사용자에게 '도서 연체 정보' 및 '중고 도서 판매 완료' 알림을 상단 바(Topbar)에 실시간으로 제공하는 기능 구현.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375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기존 구현: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Spring Security의 </a:t>
            </a:r>
            <a:r>
              <a:rPr b="1" lang="en-US" sz="1100">
                <a:solidFill>
                  <a:srgbClr val="6B7280"/>
                </a:solidFill>
                <a:highlight>
                  <a:srgbClr val="DAFFDE"/>
                </a:highlight>
                <a:latin typeface="Roboto Mono"/>
                <a:ea typeface="Roboto Mono"/>
                <a:cs typeface="Roboto Mono"/>
                <a:sym typeface="Roboto Mono"/>
              </a:rPr>
              <a:t>LoginSuccessHandler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시점에 사용자의 연체 목록과 판매 완료 목록을 DB에서 조회하여 </a:t>
            </a:r>
            <a:r>
              <a:rPr b="1" lang="en-US" sz="1100">
                <a:solidFill>
                  <a:srgbClr val="6B7280"/>
                </a:solidFill>
                <a:highlight>
                  <a:srgbClr val="DAFFDE"/>
                </a:highlight>
                <a:latin typeface="Roboto Mono"/>
                <a:ea typeface="Roboto Mono"/>
                <a:cs typeface="Roboto Mono"/>
                <a:sym typeface="Roboto Mono"/>
              </a:rPr>
              <a:t>HttpSession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에 저장하는 방식으로 구현함.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375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문제점: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사용자가 도서를 반납하거나 판매 글을 삭제하더라도 상단 바의 알림 배지 숫자와 목록이 갱신되지 않고 그대로 남아있는 '데이터 고임 현상'이 발생.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8"/>
          <p:cNvSpPr/>
          <p:nvPr/>
        </p:nvSpPr>
        <p:spPr>
          <a:xfrm>
            <a:off x="571500" y="2714625"/>
            <a:ext cx="11049000" cy="2476500"/>
          </a:xfrm>
          <a:prstGeom prst="roundRect">
            <a:avLst>
              <a:gd fmla="val 576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8"/>
          <p:cNvSpPr txBox="1"/>
          <p:nvPr/>
        </p:nvSpPr>
        <p:spPr>
          <a:xfrm>
            <a:off x="809625" y="2857500"/>
            <a:ext cx="105729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D5A27"/>
                </a:solidFill>
                <a:latin typeface="Arial"/>
                <a:ea typeface="Arial"/>
                <a:cs typeface="Arial"/>
                <a:sym typeface="Arial"/>
              </a:rPr>
              <a:t>2. 원인 분석 및 해결</a:t>
            </a:r>
            <a:endParaRPr b="1" sz="1400">
              <a:solidFill>
                <a:srgbClr val="2D5A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원인 분석: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데이터가 로그인 시점에 한 번만 세션에 저장되어 알림이 갱신되지 않는 상황 발생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해결 방법: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375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Ajax 비동기 통신: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알림창을 열 때마다 JS로 API를 호출하는 방식.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225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Spring Interceptor: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서버 사이드에서 매 요청(Request)을 가로채 데이터를 동기화하는 방식.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B7280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rPr>
              <a:t>화면이 그려지기 직전 항상 최신 데이터를 보장하고 중복 코드를 최소화할 수 있는 전용 인터셉터(</a:t>
            </a:r>
            <a:r>
              <a:rPr b="1" lang="en-US" sz="1100">
                <a:solidFill>
                  <a:srgbClr val="6B7280"/>
                </a:solidFill>
                <a:highlight>
                  <a:srgbClr val="DAFFDE"/>
                </a:highlight>
                <a:latin typeface="Roboto Mono"/>
                <a:ea typeface="Roboto Mono"/>
                <a:cs typeface="Roboto Mono"/>
                <a:sym typeface="Roboto Mono"/>
              </a:rPr>
              <a:t>NotificationInterceptor</a:t>
            </a:r>
            <a:r>
              <a:rPr b="1" lang="en-US" sz="1100">
                <a:solidFill>
                  <a:srgbClr val="6B7280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rPr>
              <a:t>)를 도입하기로 결정.</a:t>
            </a:r>
            <a:endParaRPr b="0" sz="1100">
              <a:solidFill>
                <a:srgbClr val="6B7280"/>
              </a:solidFill>
              <a:highlight>
                <a:srgbClr val="F0FDF4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무거운 로그인 핸들러: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100">
                <a:solidFill>
                  <a:srgbClr val="6B7280"/>
                </a:solidFill>
                <a:highlight>
                  <a:srgbClr val="DAFFDE"/>
                </a:highlight>
                <a:latin typeface="Roboto Mono"/>
                <a:ea typeface="Roboto Mono"/>
                <a:cs typeface="Roboto Mono"/>
                <a:sym typeface="Roboto Mono"/>
              </a:rPr>
              <a:t>LoginSuccessHandler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에서는 순수 인증 및 인증 유저 세션 저장 역할만 남김으로써 로그인 처리 속도 개선.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225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데이터 주입 방식 안정화: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100">
                <a:solidFill>
                  <a:srgbClr val="6B7280"/>
                </a:solidFill>
                <a:highlight>
                  <a:srgbClr val="DAFFDE"/>
                </a:highlight>
                <a:latin typeface="Roboto Mono"/>
                <a:ea typeface="Roboto Mono"/>
                <a:cs typeface="Roboto Mono"/>
                <a:sym typeface="Roboto Mono"/>
              </a:rPr>
              <a:t>postHandle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시점에 DB 조회 값을 동기화하여 실시간 데이터가 반영되도록 변경.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8"/>
          <p:cNvSpPr/>
          <p:nvPr/>
        </p:nvSpPr>
        <p:spPr>
          <a:xfrm>
            <a:off x="571500" y="5334000"/>
            <a:ext cx="11049000" cy="12384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8"/>
          <p:cNvSpPr txBox="1"/>
          <p:nvPr/>
        </p:nvSpPr>
        <p:spPr>
          <a:xfrm>
            <a:off x="809625" y="5476875"/>
            <a:ext cx="10572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D5A27"/>
                </a:solidFill>
                <a:latin typeface="Arial"/>
                <a:ea typeface="Arial"/>
                <a:cs typeface="Arial"/>
                <a:sym typeface="Arial"/>
              </a:rPr>
              <a:t>3. 결과</a:t>
            </a:r>
            <a:endParaRPr b="1" sz="1400">
              <a:solidFill>
                <a:srgbClr val="2D5A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실시간 데이터 동기화: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페이지 이동이나 새로고침 시 즉각적으로 알림 배지 숫자가 차감되는 것을 확인.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375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결합도 분리 (Decoupling):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인증 로직과 비즈니스 알림 조회 로직을 분리하여 유지보수성 향상.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375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성능 및 예외 안정성: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내부 try-catch 예외 처리를 통해 알림 조회 오류가 다른 기능에 영향을 미치지 않도록 조치.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9"/>
          <p:cNvSpPr/>
          <p:nvPr/>
        </p:nvSpPr>
        <p:spPr>
          <a:xfrm>
            <a:off x="381000" y="428625"/>
            <a:ext cx="76200" cy="4764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9"/>
          <p:cNvSpPr txBox="1"/>
          <p:nvPr/>
        </p:nvSpPr>
        <p:spPr>
          <a:xfrm>
            <a:off x="619125" y="428625"/>
            <a:ext cx="10953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Issue 02: </a:t>
            </a:r>
            <a:r>
              <a:rPr b="1" lang="en-US" sz="222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외부 API 연동 시 데이터 유실 및 NPE 해결(카카오페이 결제 API)</a:t>
            </a:r>
            <a:endParaRPr b="1" sz="259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9"/>
          <p:cNvSpPr/>
          <p:nvPr/>
        </p:nvSpPr>
        <p:spPr>
          <a:xfrm>
            <a:off x="571500" y="1143000"/>
            <a:ext cx="11049000" cy="1428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9"/>
          <p:cNvSpPr txBox="1"/>
          <p:nvPr/>
        </p:nvSpPr>
        <p:spPr>
          <a:xfrm>
            <a:off x="809625" y="1238250"/>
            <a:ext cx="10572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D5A27"/>
                </a:solidFill>
                <a:latin typeface="Arial"/>
                <a:ea typeface="Arial"/>
                <a:cs typeface="Arial"/>
                <a:sym typeface="Arial"/>
              </a:rPr>
              <a:t>1. 상황</a:t>
            </a:r>
            <a:endParaRPr b="1" sz="1400">
              <a:solidFill>
                <a:srgbClr val="2D5A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상황: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중고책 거래 플랫폼 개발 중, 초기 디자인에서 카카오페이 결제 API를 연동하여 결제가 완료되면 해당 상품 게시글을 자동으로 후처리(삭제)하는 로직 계획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40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문제점: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카카오페이 결제창 호출 후 승인 완료(Approve) 단계로 돌아왔을 때, 게시글 정보(DealboardDTO) 및 이와 연동된 중고책 정보(OldbookDTO)가 전부 null로 변해 NullPointerException이 발생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9"/>
          <p:cNvSpPr/>
          <p:nvPr/>
        </p:nvSpPr>
        <p:spPr>
          <a:xfrm>
            <a:off x="571500" y="2714625"/>
            <a:ext cx="11049000" cy="2476500"/>
          </a:xfrm>
          <a:prstGeom prst="roundRect">
            <a:avLst>
              <a:gd fmla="val 576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9"/>
          <p:cNvSpPr txBox="1"/>
          <p:nvPr/>
        </p:nvSpPr>
        <p:spPr>
          <a:xfrm>
            <a:off x="809625" y="2809875"/>
            <a:ext cx="10572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D5A27"/>
                </a:solidFill>
                <a:latin typeface="Arial"/>
                <a:ea typeface="Arial"/>
                <a:cs typeface="Arial"/>
                <a:sym typeface="Arial"/>
              </a:rPr>
              <a:t>2. 원인 분석 및 해결</a:t>
            </a:r>
            <a:endParaRPr b="1" sz="1400">
              <a:solidFill>
                <a:srgbClr val="2D5A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원인 분석:</a:t>
            </a:r>
            <a:endParaRPr b="1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사용자가 카카오페이 결제 화면으로 리다이렉트되는 과정에서 기존 HTTP Request 데이터가 소실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결제 준비 단계에서 비동기(@RequestBody) 데이터 수신 시, 연관 객체가 채워지지 않은 빈 껍데기 DTO가 세션에 저장되었음을 디버깅을 통해 확인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해결방법:</a:t>
            </a:r>
            <a:endParaRPr b="1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메모리 최적화: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무거운 DTO 객체 전체를 세션에 담는 대신, 필수 식별자인 게시글 번호(</a:t>
            </a: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dealboardNum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)만 세션에 가볍게 보관하도록 수정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데이터 정합성 확보: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결제 승인(Approve) 시점에 세션에서 번호를 꺼내, </a:t>
            </a: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연관 데이터(Oldbook, File)가 모두 포함된 모든 데이터를 DB에서 재조회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하도록 로직을 변경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40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안전하게 복원된 객체를 기반으로 결제 완료 시 데이터 후처리(</a:t>
            </a: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deleteBoard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)를 진행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9"/>
          <p:cNvSpPr/>
          <p:nvPr/>
        </p:nvSpPr>
        <p:spPr>
          <a:xfrm>
            <a:off x="571500" y="5334000"/>
            <a:ext cx="11049000" cy="12384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9"/>
          <p:cNvSpPr txBox="1"/>
          <p:nvPr/>
        </p:nvSpPr>
        <p:spPr>
          <a:xfrm>
            <a:off x="809625" y="5429250"/>
            <a:ext cx="105729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D5A27"/>
                </a:solidFill>
                <a:latin typeface="Arial"/>
                <a:ea typeface="Arial"/>
                <a:cs typeface="Arial"/>
                <a:sym typeface="Arial"/>
              </a:rPr>
              <a:t>3. 결과</a:t>
            </a:r>
            <a:endParaRPr b="1" sz="1400">
              <a:solidFill>
                <a:srgbClr val="2D5A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40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결제 프로세스 전반에서 데이터가 유실되던 문제를 해결(NPE 문제 해결)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40"/>
          <p:cNvSpPr/>
          <p:nvPr/>
        </p:nvSpPr>
        <p:spPr>
          <a:xfrm>
            <a:off x="381000" y="428625"/>
            <a:ext cx="76200" cy="4764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0"/>
          <p:cNvSpPr txBox="1"/>
          <p:nvPr/>
        </p:nvSpPr>
        <p:spPr>
          <a:xfrm>
            <a:off x="619125" y="428625"/>
            <a:ext cx="10953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Issue 03: </a:t>
            </a:r>
            <a:r>
              <a:rPr b="1" lang="en-US" sz="222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DOM Null 참조로 인한 스크립트 셧다운 결함</a:t>
            </a:r>
            <a:endParaRPr b="1" sz="259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40"/>
          <p:cNvSpPr/>
          <p:nvPr/>
        </p:nvSpPr>
        <p:spPr>
          <a:xfrm>
            <a:off x="571500" y="1143000"/>
            <a:ext cx="11049000" cy="12384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0"/>
          <p:cNvSpPr txBox="1"/>
          <p:nvPr/>
        </p:nvSpPr>
        <p:spPr>
          <a:xfrm>
            <a:off x="809625" y="1285875"/>
            <a:ext cx="10572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D5A27"/>
                </a:solidFill>
                <a:latin typeface="Arial"/>
                <a:ea typeface="Arial"/>
                <a:cs typeface="Arial"/>
                <a:sym typeface="Arial"/>
              </a:rPr>
              <a:t>1. 문제 상황 (Issue)</a:t>
            </a:r>
            <a:endParaRPr b="1" sz="1400">
              <a:solidFill>
                <a:srgbClr val="2D5A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40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상황: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특정 사용자 환경 및 일부 페이지에서 자바스크립트 에러가 발생하여, 비동기 리뷰 목록 조회(</a:t>
            </a:r>
            <a:r>
              <a:rPr b="1" lang="en-US" sz="1100">
                <a:solidFill>
                  <a:srgbClr val="6B7280"/>
                </a:solidFill>
                <a:highlight>
                  <a:srgbClr val="DAFFDE"/>
                </a:highlight>
                <a:latin typeface="Roboto Mono"/>
                <a:ea typeface="Roboto Mono"/>
                <a:cs typeface="Roboto Mono"/>
                <a:sym typeface="Roboto Mono"/>
              </a:rPr>
              <a:t>getList()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) 기능이 작동하지 않아 리뷰 목록이 다른 사람에게 정상적으로 출력되지 않는 현상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40"/>
          <p:cNvSpPr/>
          <p:nvPr/>
        </p:nvSpPr>
        <p:spPr>
          <a:xfrm>
            <a:off x="571500" y="2524125"/>
            <a:ext cx="11049000" cy="2190900"/>
          </a:xfrm>
          <a:prstGeom prst="roundRect">
            <a:avLst>
              <a:gd fmla="val 6521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0"/>
          <p:cNvSpPr txBox="1"/>
          <p:nvPr/>
        </p:nvSpPr>
        <p:spPr>
          <a:xfrm>
            <a:off x="809625" y="2667000"/>
            <a:ext cx="105729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D5A27"/>
                </a:solidFill>
                <a:latin typeface="Arial"/>
                <a:ea typeface="Arial"/>
                <a:cs typeface="Arial"/>
                <a:sym typeface="Arial"/>
              </a:rPr>
              <a:t>2. 원인 분석 (Cause)</a:t>
            </a:r>
            <a:endParaRPr b="1" sz="1400">
              <a:solidFill>
                <a:srgbClr val="2D5A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원인 분석: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공통 자바스크립트 내에서 특정 화면에 존재하지 않는 DOM 객체(</a:t>
            </a:r>
            <a:r>
              <a:rPr b="1" lang="en-US" sz="1100">
                <a:solidFill>
                  <a:srgbClr val="6B7280"/>
                </a:solidFill>
                <a:highlight>
                  <a:srgbClr val="DAFFDE"/>
                </a:highlight>
                <a:latin typeface="Roboto Mono"/>
                <a:ea typeface="Roboto Mono"/>
                <a:cs typeface="Roboto Mono"/>
                <a:sym typeface="Roboto Mono"/>
              </a:rPr>
              <a:t>reviewAddBtn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100">
                <a:solidFill>
                  <a:srgbClr val="6B7280"/>
                </a:solidFill>
                <a:highlight>
                  <a:srgbClr val="DAFFDE"/>
                </a:highlight>
                <a:latin typeface="Roboto Mono"/>
                <a:ea typeface="Roboto Mono"/>
                <a:cs typeface="Roboto Mono"/>
                <a:sym typeface="Roboto Mono"/>
              </a:rPr>
              <a:t>reviewListDiv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등)에 접근 시도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40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highlight>
                  <a:srgbClr val="DAFFDE"/>
                </a:highlight>
                <a:latin typeface="Roboto Mono"/>
                <a:ea typeface="Roboto Mono"/>
                <a:cs typeface="Roboto Mono"/>
                <a:sym typeface="Roboto Mono"/>
              </a:rPr>
              <a:t>NullPointerException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계열의 </a:t>
            </a:r>
            <a:r>
              <a:rPr b="1" lang="en-US" sz="1100">
                <a:solidFill>
                  <a:srgbClr val="6B7280"/>
                </a:solidFill>
                <a:highlight>
                  <a:srgbClr val="DAFFDE"/>
                </a:highlight>
                <a:latin typeface="Roboto Mono"/>
                <a:ea typeface="Roboto Mono"/>
                <a:cs typeface="Roboto Mono"/>
                <a:sym typeface="Roboto Mono"/>
              </a:rPr>
              <a:t>TypeError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가 발생하여 브라우저의 스크립트 인터프리팅이 중단됨. 결과적으로 최하단의 </a:t>
            </a:r>
            <a:r>
              <a:rPr b="1" lang="en-US" sz="1100">
                <a:solidFill>
                  <a:srgbClr val="6B7280"/>
                </a:solidFill>
                <a:highlight>
                  <a:srgbClr val="DAFFDE"/>
                </a:highlight>
                <a:latin typeface="Roboto Mono"/>
                <a:ea typeface="Roboto Mono"/>
                <a:cs typeface="Roboto Mono"/>
                <a:sym typeface="Roboto Mono"/>
              </a:rPr>
              <a:t>getList()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호출부까지 코드가 도달하지 못함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40"/>
          <p:cNvSpPr/>
          <p:nvPr/>
        </p:nvSpPr>
        <p:spPr>
          <a:xfrm>
            <a:off x="571500" y="4857750"/>
            <a:ext cx="11049000" cy="1619100"/>
          </a:xfrm>
          <a:prstGeom prst="roundRect">
            <a:avLst>
              <a:gd fmla="val 8823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0"/>
          <p:cNvSpPr txBox="1"/>
          <p:nvPr/>
        </p:nvSpPr>
        <p:spPr>
          <a:xfrm>
            <a:off x="809625" y="5000625"/>
            <a:ext cx="10572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D5A27"/>
                </a:solidFill>
                <a:latin typeface="Arial"/>
                <a:ea typeface="Arial"/>
                <a:cs typeface="Arial"/>
                <a:sym typeface="Arial"/>
              </a:rPr>
              <a:t>3. 해결 방법 (Remedy)</a:t>
            </a:r>
            <a:endParaRPr b="1" sz="1400">
              <a:solidFill>
                <a:srgbClr val="2D5A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방어적 프로그래밍: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이벤트 리스너 등록 전, 조건문(</a:t>
            </a:r>
            <a:r>
              <a:rPr b="1" lang="en-US" sz="1100">
                <a:solidFill>
                  <a:srgbClr val="6B7280"/>
                </a:solidFill>
                <a:highlight>
                  <a:srgbClr val="DAFFDE"/>
                </a:highlight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)을 활용한 </a:t>
            </a: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Null Check 로직 도입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40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0" lang="en-US" sz="1100">
                <a:solidFill>
                  <a:srgbClr val="6B7280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rPr>
              <a:t>객체 존재 여부를 먼저 검증함으로써 타 페이지에서의 스크립트 에러를 전면 차단하고, 전체 시스템의 기능적 연속성 및 데이터 정합성 확보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1"/>
          <p:cNvSpPr/>
          <p:nvPr/>
        </p:nvSpPr>
        <p:spPr>
          <a:xfrm>
            <a:off x="381000" y="428625"/>
            <a:ext cx="76200" cy="4764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41"/>
          <p:cNvSpPr txBox="1"/>
          <p:nvPr/>
        </p:nvSpPr>
        <p:spPr>
          <a:xfrm>
            <a:off x="619125" y="428625"/>
            <a:ext cx="10953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Issue 04: </a:t>
            </a:r>
            <a:r>
              <a:rPr b="1" lang="en-US" sz="2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대출 연체 도서 목록 조회 시 날짜 연산 오류 및 &lt;![CDATA[]]&gt; 처리</a:t>
            </a:r>
            <a:endParaRPr b="1" sz="26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41"/>
          <p:cNvSpPr/>
          <p:nvPr/>
        </p:nvSpPr>
        <p:spPr>
          <a:xfrm>
            <a:off x="571500" y="1143000"/>
            <a:ext cx="11049000" cy="13335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1"/>
          <p:cNvSpPr txBox="1"/>
          <p:nvPr/>
        </p:nvSpPr>
        <p:spPr>
          <a:xfrm>
            <a:off x="809625" y="1285875"/>
            <a:ext cx="105729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D5A27"/>
                </a:solidFill>
                <a:latin typeface="Arial"/>
                <a:ea typeface="Arial"/>
                <a:cs typeface="Arial"/>
                <a:sym typeface="Arial"/>
              </a:rPr>
              <a:t>1. 문제 상황 (Issue)</a:t>
            </a:r>
            <a:endParaRPr b="1" sz="1400">
              <a:solidFill>
                <a:srgbClr val="2D5A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60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연체 도서(반납 예정일이 지난 도서) 목록을 뽑아오기 위해 SQL 조건절에 비교 연산자(`&lt;`)를 사용하자, XML 파싱 에러(`org.xml.sax.SAXParseException`)가 발생하며 어플리케이션 구동 자체가 실패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1"/>
          <p:cNvSpPr/>
          <p:nvPr/>
        </p:nvSpPr>
        <p:spPr>
          <a:xfrm>
            <a:off x="571500" y="2619375"/>
            <a:ext cx="11049000" cy="15240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1"/>
          <p:cNvSpPr txBox="1"/>
          <p:nvPr/>
        </p:nvSpPr>
        <p:spPr>
          <a:xfrm>
            <a:off x="809625" y="2762250"/>
            <a:ext cx="10572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D5A27"/>
                </a:solidFill>
                <a:latin typeface="Arial"/>
                <a:ea typeface="Arial"/>
                <a:cs typeface="Arial"/>
                <a:sym typeface="Arial"/>
              </a:rPr>
              <a:t>2. 원인 분석 (Cause)</a:t>
            </a:r>
            <a:endParaRPr b="1" sz="1400">
              <a:solidFill>
                <a:srgbClr val="2D5A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60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MyBatis의 매퍼 파일은 `XML` 규격을 따르기 때문에, SQL 문에 포함된 미만/초과 부등호(`&lt;`, `&gt;`) 문자를 XML의 태그 열기/닫기(`&lt;tag&gt;`) 문자로 잘못 인식하여 구문 해석 오류(Parsing Error)가 발생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1"/>
          <p:cNvSpPr/>
          <p:nvPr/>
        </p:nvSpPr>
        <p:spPr>
          <a:xfrm>
            <a:off x="571500" y="4286250"/>
            <a:ext cx="11049000" cy="2000100"/>
          </a:xfrm>
          <a:prstGeom prst="roundRect">
            <a:avLst>
              <a:gd fmla="val 7142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1"/>
          <p:cNvSpPr txBox="1"/>
          <p:nvPr/>
        </p:nvSpPr>
        <p:spPr>
          <a:xfrm>
            <a:off x="809625" y="4429125"/>
            <a:ext cx="105729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D5A27"/>
                </a:solidFill>
                <a:latin typeface="Arial"/>
                <a:ea typeface="Arial"/>
                <a:cs typeface="Arial"/>
                <a:sym typeface="Arial"/>
              </a:rPr>
              <a:t>3. 해결 방법 (Remedy)</a:t>
            </a:r>
            <a:endParaRPr b="1" sz="1400">
              <a:solidFill>
                <a:srgbClr val="2D5A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XML 파서가 해당 구문을 태그가 아닌 순수 문자열로 인식하도록 </a:t>
            </a:r>
            <a:r>
              <a:rPr b="1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`&lt;![CDATA[ &lt; ]]&gt;` 문법을 적용</a:t>
            </a: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하여 에러를 해결함.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600"/>
              </a:spcAft>
              <a:buClr>
                <a:srgbClr val="6B7280"/>
              </a:buClr>
              <a:buSzPts val="1100"/>
              <a:buFont typeface="Arial"/>
              <a:buChar char="●"/>
            </a:pPr>
            <a:r>
              <a:rPr b="0" lang="en-US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더불어 `CURRENT_TIMESTAMP` 연산을 통해 자바 진영이 아닌 DB 자체 시간 기준으로 연체 여부를 실시간으로 서빙하도록 쿼리 정합성을 높임</a:t>
            </a:r>
            <a:endParaRPr b="0" sz="11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7" name="Google Shape;64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2"/>
          <p:cNvSpPr txBox="1"/>
          <p:nvPr/>
        </p:nvSpPr>
        <p:spPr>
          <a:xfrm>
            <a:off x="4999460" y="2201167"/>
            <a:ext cx="219293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Q &amp; A</a:t>
            </a:r>
            <a:endParaRPr/>
          </a:p>
        </p:txBody>
      </p:sp>
      <p:sp>
        <p:nvSpPr>
          <p:cNvPr id="649" name="Google Shape;649;p42"/>
          <p:cNvSpPr txBox="1"/>
          <p:nvPr/>
        </p:nvSpPr>
        <p:spPr>
          <a:xfrm>
            <a:off x="4517975" y="3267967"/>
            <a:ext cx="3156049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경청해 주셔서 감사합니다.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54" name="Google Shape;65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3"/>
          <p:cNvSpPr txBox="1"/>
          <p:nvPr/>
        </p:nvSpPr>
        <p:spPr>
          <a:xfrm>
            <a:off x="1600200" y="571500"/>
            <a:ext cx="1012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5A27"/>
                </a:solidFill>
                <a:latin typeface="Noto Sans KR"/>
                <a:ea typeface="Noto Sans KR"/>
                <a:cs typeface="Noto Sans KR"/>
                <a:sym typeface="Noto Sans KR"/>
              </a:rPr>
              <a:t>업무 분할 (Task Allocation)</a:t>
            </a:r>
            <a:endParaRPr/>
          </a:p>
        </p:txBody>
      </p:sp>
      <p:pic>
        <p:nvPicPr>
          <p:cNvPr descr="image.png" id="656" name="Google Shape;65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661987"/>
            <a:ext cx="5048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7" name="Google Shape;657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00325"/>
            <a:ext cx="528637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3"/>
          <p:cNvSpPr txBox="1"/>
          <p:nvPr/>
        </p:nvSpPr>
        <p:spPr>
          <a:xfrm>
            <a:off x="866775" y="2962275"/>
            <a:ext cx="478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신민수 / Developer</a:t>
            </a:r>
            <a:endParaRPr/>
          </a:p>
        </p:txBody>
      </p:sp>
      <p:sp>
        <p:nvSpPr>
          <p:cNvPr id="659" name="Google Shape;659;p43"/>
          <p:cNvSpPr txBox="1"/>
          <p:nvPr/>
        </p:nvSpPr>
        <p:spPr>
          <a:xfrm>
            <a:off x="952500" y="3575304"/>
            <a:ext cx="469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회원 관리 시스템 전체 구축</a:t>
            </a:r>
            <a:endParaRPr/>
          </a:p>
        </p:txBody>
      </p:sp>
      <p:sp>
        <p:nvSpPr>
          <p:cNvPr id="660" name="Google Shape;660;p43"/>
          <p:cNvSpPr txBox="1"/>
          <p:nvPr/>
        </p:nvSpPr>
        <p:spPr>
          <a:xfrm>
            <a:off x="950976" y="4041648"/>
            <a:ext cx="469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중고 거래 게시판 및 검색 로직</a:t>
            </a:r>
            <a:endParaRPr/>
          </a:p>
        </p:txBody>
      </p:sp>
      <p:sp>
        <p:nvSpPr>
          <p:cNvPr id="661" name="Google Shape;661;p43"/>
          <p:cNvSpPr txBox="1"/>
          <p:nvPr/>
        </p:nvSpPr>
        <p:spPr>
          <a:xfrm>
            <a:off x="950976" y="4526280"/>
            <a:ext cx="469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카카오페이 API 연동 및 결제 후처리</a:t>
            </a:r>
            <a:endParaRPr/>
          </a:p>
        </p:txBody>
      </p:sp>
      <p:pic>
        <p:nvPicPr>
          <p:cNvPr descr="image.png" id="662" name="Google Shape;662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5766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3" name="Google Shape;663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45291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4" name="Google Shape;664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404341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5" name="Google Shape;665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2600325"/>
            <a:ext cx="528637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43"/>
          <p:cNvSpPr txBox="1"/>
          <p:nvPr/>
        </p:nvSpPr>
        <p:spPr>
          <a:xfrm>
            <a:off x="6629400" y="2962275"/>
            <a:ext cx="478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박준하 / Developer</a:t>
            </a:r>
            <a:endParaRPr/>
          </a:p>
        </p:txBody>
      </p:sp>
      <p:sp>
        <p:nvSpPr>
          <p:cNvPr id="667" name="Google Shape;667;p43"/>
          <p:cNvSpPr txBox="1"/>
          <p:nvPr/>
        </p:nvSpPr>
        <p:spPr>
          <a:xfrm>
            <a:off x="6692900" y="3575304"/>
            <a:ext cx="469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도서 </a:t>
            </a:r>
            <a:r>
              <a:rPr lang="en-US" sz="150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리스트,</a:t>
            </a:r>
            <a:r>
              <a:rPr b="0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대출/반납 프로세스 관리</a:t>
            </a:r>
            <a:endParaRPr/>
          </a:p>
        </p:txBody>
      </p:sp>
      <p:sp>
        <p:nvSpPr>
          <p:cNvPr id="668" name="Google Shape;668;p43"/>
          <p:cNvSpPr txBox="1"/>
          <p:nvPr/>
        </p:nvSpPr>
        <p:spPr>
          <a:xfrm>
            <a:off x="6693408" y="4050792"/>
            <a:ext cx="469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네이버 도서 API 연동 통한 도서 신규 등록</a:t>
            </a:r>
            <a:endParaRPr/>
          </a:p>
        </p:txBody>
      </p:sp>
      <p:sp>
        <p:nvSpPr>
          <p:cNvPr id="669" name="Google Shape;669;p43"/>
          <p:cNvSpPr txBox="1"/>
          <p:nvPr/>
        </p:nvSpPr>
        <p:spPr>
          <a:xfrm>
            <a:off x="6693408" y="4526280"/>
            <a:ext cx="469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도서 리뷰, 도서 TOP3 구현</a:t>
            </a:r>
            <a:endParaRPr/>
          </a:p>
        </p:txBody>
      </p:sp>
      <p:pic>
        <p:nvPicPr>
          <p:cNvPr descr="image.png" id="670" name="Google Shape;670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35766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1" name="Google Shape;671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405288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2" name="Google Shape;672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4529137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